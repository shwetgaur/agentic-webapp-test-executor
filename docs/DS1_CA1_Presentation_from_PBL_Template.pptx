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75" r:id="rId11"/>
    <p:sldId id="301" r:id="rId12"/>
    <p:sldId id="284" r:id="rId13"/>
    <p:sldId id="302" r:id="rId14"/>
    <p:sldId id="303" r:id="rId15"/>
    <p:sldId id="304" r:id="rId16"/>
    <p:sldId id="305" r:id="rId17"/>
    <p:sldId id="300" r:id="rId18"/>
    <p:sldId id="277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tCBjtr+KwTbSqdUarWP4gtMJ8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C9C0"/>
    <a:srgbClr val="B7CCE4"/>
    <a:srgbClr val="44546A"/>
    <a:srgbClr val="8497B0"/>
    <a:srgbClr val="636866"/>
    <a:srgbClr val="213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customschemas.google.com/relationships/presentationmetadata" Target="meta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14d6a3a13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314d6a3a1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C559C8C-4AAA-6BDD-C72B-22BFD4AB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C9E4A9D-B800-B98E-88D8-A4232B3EF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E08690BC-1415-E2FB-058E-6B21097E6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13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C623E33-CE88-D0A2-2355-1099EBD0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2E9D6CB-100B-C7B7-74A2-D150B89A2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02169E8-CF6C-FC13-8441-F139C29EF5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8211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" name="Google Shape;4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1" name="Google Shape;6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7" name="Google Shape;7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1" name="Google Shape;9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esearchgate.net/publication/269935591_Explaining_and_Harnessing_Adversarial_Examples" TargetMode="External"/><Relationship Id="rId3" Type="http://schemas.openxmlformats.org/officeDocument/2006/relationships/hyperlink" Target="https://openreview.net/forum?id=rJzIBfZAb" TargetMode="External"/><Relationship Id="rId4" Type="http://schemas.openxmlformats.org/officeDocument/2006/relationships/hyperlink" Target="https://www.cs.purdue.edu/homes/bb/2020-fall-cs590bb/docs/at/attacks-against-machine-learning.pdf" TargetMode="External"/><Relationship Id="rId5" Type="http://schemas.openxmlformats.org/officeDocument/2006/relationships/hyperlink" Target="https://ieeexplore.ieee.org/document/7958570" TargetMode="External"/><Relationship Id="rId6" Type="http://schemas.openxmlformats.org/officeDocument/2006/relationships/hyperlink" Target="https://dspace.mit.edu/handle/1721.1/130090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Calibri"/>
              </a:rPr>
              <a:t>B. Tech. Project AY 2026-27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</a:rPr>
              <a:t>CA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Project ID: DS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Title of the Project: Agentic Web-App Test Executor</a:t>
            </a:r>
          </a:p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(Domain: Quality Engineering)</a:t>
            </a:r>
          </a:p>
        </p:txBody>
      </p:sp>
      <p:pic>
        <p:nvPicPr>
          <p:cNvPr id="6" name="Picture 5" descr="_tmp_titl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965960"/>
            <a:ext cx="4206240" cy="17100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776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Name of the Guide: Mayur Gaikwad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Name of the Industry Mentor: Dassault Systemes (ENOVIA) / 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Group Members: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1. Shwet Gaur (PRN: 23070126126)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2. Sahishnu Raut(PRN: 23070126118)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3. Eesha Barad(PRN: 23070126161)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4. Saksham Sharma(PRN: 23070126113)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Outline of the Presentation</a:t>
            </a:r>
            <a:endParaRPr dirty="0"/>
          </a:p>
        </p:txBody>
      </p:sp>
      <p:sp>
        <p:nvSpPr>
          <p:cNvPr id="112" name="Google Shape;112;p2"/>
          <p:cNvSpPr txBox="1">
            <a:spLocks noGrp="1"/>
          </p:cNvSpPr>
          <p:nvPr>
            <p:ph type="body" idx="1"/>
          </p:nvPr>
        </p:nvSpPr>
        <p:spPr>
          <a:xfrm>
            <a:off x="487135" y="1455511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Names of all the group members and their work distribution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Project plan with timeline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Gap in the Research/ Technology/ Methodology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Description of the proposed solution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Architectural Diagram (to be inserted)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0" algn="l" rtl="0">
              <a:lnSpc>
                <a:spcPct val="100000"/>
              </a:lnSpc>
              <a:spcBef>
                <a:spcPts val="1550"/>
              </a:spcBef>
              <a:spcAft>
                <a:spcPts val="0"/>
              </a:spcAft>
              <a:buSzPts val="1800"/>
              <a:buNone/>
            </a:pPr>
            <a:r>
              <a:t>Work done till now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Conclusion</a:t>
            </a:r>
          </a:p>
          <a:p>
            <a:r>
              <a:t>References</a:t>
            </a:r>
          </a:p>
          <a:p>
            <a:r>
              <a:t>A photograph of the presentation after due permission from the guide.</a:t>
            </a:r>
          </a:p>
        </p:txBody>
      </p:sp>
      <p:sp>
        <p:nvSpPr>
          <p:cNvPr id="113" name="Google Shape;113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28-07-2026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all the group members and their work distribution</a:t>
            </a:r>
            <a:endParaRPr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28-07-2026</a:t>
            </a: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grpSp>
        <p:nvGrpSpPr>
          <p:cNvPr id="2" name="Google Shape;431;p42">
            <a:extLst>
              <a:ext uri="{FF2B5EF4-FFF2-40B4-BE49-F238E27FC236}">
                <a16:creationId xmlns:a16="http://schemas.microsoft.com/office/drawing/2014/main" id="{32C5A830-5D42-1EB6-757C-FBE09E453459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3" name="Google Shape;432;p42">
              <a:extLst>
                <a:ext uri="{FF2B5EF4-FFF2-40B4-BE49-F238E27FC236}">
                  <a16:creationId xmlns:a16="http://schemas.microsoft.com/office/drawing/2014/main" id="{9E9D9F61-7CD5-C203-098A-97795B992B26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" name="Google Shape;433;p42">
              <a:extLst>
                <a:ext uri="{FF2B5EF4-FFF2-40B4-BE49-F238E27FC236}">
                  <a16:creationId xmlns:a16="http://schemas.microsoft.com/office/drawing/2014/main" id="{C7F697E4-B4BF-2701-E71A-B974D9D92B77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" name="Google Shape;434;p42">
              <a:extLst>
                <a:ext uri="{FF2B5EF4-FFF2-40B4-BE49-F238E27FC236}">
                  <a16:creationId xmlns:a16="http://schemas.microsoft.com/office/drawing/2014/main" id="{C55A982E-794F-2A38-9A6B-B6E0BA362C5B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435;p42">
              <a:extLst>
                <a:ext uri="{FF2B5EF4-FFF2-40B4-BE49-F238E27FC236}">
                  <a16:creationId xmlns:a16="http://schemas.microsoft.com/office/drawing/2014/main" id="{A79A8879-507F-2124-BB99-B69FA2A8C896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436;p42">
              <a:extLst>
                <a:ext uri="{FF2B5EF4-FFF2-40B4-BE49-F238E27FC236}">
                  <a16:creationId xmlns:a16="http://schemas.microsoft.com/office/drawing/2014/main" id="{8138F85B-E830-609E-0B0D-E7FAA8462324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437;p42">
              <a:extLst>
                <a:ext uri="{FF2B5EF4-FFF2-40B4-BE49-F238E27FC236}">
                  <a16:creationId xmlns:a16="http://schemas.microsoft.com/office/drawing/2014/main" id="{635E264D-70EE-5C1C-7D0B-9783C910AB35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438;p42">
              <a:extLst>
                <a:ext uri="{FF2B5EF4-FFF2-40B4-BE49-F238E27FC236}">
                  <a16:creationId xmlns:a16="http://schemas.microsoft.com/office/drawing/2014/main" id="{51DAD091-F66C-C0AA-EA00-88EA911016DB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" name="Google Shape;431;p42">
            <a:extLst>
              <a:ext uri="{FF2B5EF4-FFF2-40B4-BE49-F238E27FC236}">
                <a16:creationId xmlns:a16="http://schemas.microsoft.com/office/drawing/2014/main" id="{2A9EFDCB-16D9-1F44-93D7-78F58F64E4F2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11" name="Google Shape;432;p42">
              <a:extLst>
                <a:ext uri="{FF2B5EF4-FFF2-40B4-BE49-F238E27FC236}">
                  <a16:creationId xmlns:a16="http://schemas.microsoft.com/office/drawing/2014/main" id="{D64172CD-AAAC-FCE8-F75C-B9BB4CB57092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3;p42">
              <a:extLst>
                <a:ext uri="{FF2B5EF4-FFF2-40B4-BE49-F238E27FC236}">
                  <a16:creationId xmlns:a16="http://schemas.microsoft.com/office/drawing/2014/main" id="{3EDF69A5-C1E0-499C-13E2-174C592A65A8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434;p42">
              <a:extLst>
                <a:ext uri="{FF2B5EF4-FFF2-40B4-BE49-F238E27FC236}">
                  <a16:creationId xmlns:a16="http://schemas.microsoft.com/office/drawing/2014/main" id="{53924E60-8EBB-92D0-DB6C-D581BE873056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435;p42">
              <a:extLst>
                <a:ext uri="{FF2B5EF4-FFF2-40B4-BE49-F238E27FC236}">
                  <a16:creationId xmlns:a16="http://schemas.microsoft.com/office/drawing/2014/main" id="{97347983-146C-1F95-7ECF-6321D63D9487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6;p42">
              <a:extLst>
                <a:ext uri="{FF2B5EF4-FFF2-40B4-BE49-F238E27FC236}">
                  <a16:creationId xmlns:a16="http://schemas.microsoft.com/office/drawing/2014/main" id="{F7925686-86F0-2CB4-6B00-0EA7A5720DDE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7;p42">
              <a:extLst>
                <a:ext uri="{FF2B5EF4-FFF2-40B4-BE49-F238E27FC236}">
                  <a16:creationId xmlns:a16="http://schemas.microsoft.com/office/drawing/2014/main" id="{1380E09A-5C85-9CA8-D5A4-033C07EA9DD3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8;p42">
              <a:extLst>
                <a:ext uri="{FF2B5EF4-FFF2-40B4-BE49-F238E27FC236}">
                  <a16:creationId xmlns:a16="http://schemas.microsoft.com/office/drawing/2014/main" id="{8572DAD4-D703-9F09-276F-89900238AB5E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aphicFrame>
        <p:nvGraphicFramePr>
          <p:cNvPr id="18" name="Google Shape;294;p34">
            <a:extLst>
              <a:ext uri="{FF2B5EF4-FFF2-40B4-BE49-F238E27FC236}">
                <a16:creationId xmlns:a16="http://schemas.microsoft.com/office/drawing/2014/main" id="{75CDF622-F7A3-01A2-B5FA-97D54F441C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7064626"/>
              </p:ext>
            </p:extLst>
          </p:nvPr>
        </p:nvGraphicFramePr>
        <p:xfrm>
          <a:off x="904372" y="1921139"/>
          <a:ext cx="7337181" cy="28816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280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3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tx1"/>
                          </a:solidFill>
                          <a:sym typeface="Raleway"/>
                        </a:rPr>
                        <a:t>Name</a:t>
                      </a:r>
                      <a:endParaRPr sz="1800" b="1" u="none" dirty="0">
                        <a:solidFill>
                          <a:schemeClr val="tx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tx1"/>
                          </a:solidFill>
                          <a:sym typeface="Raleway Medium"/>
                        </a:rPr>
                        <a:t>Work Distribution</a:t>
                      </a:r>
                      <a:endParaRPr sz="1800" b="1" dirty="0">
                        <a:solidFill>
                          <a:schemeClr val="tx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5">
                <a:tc>
                  <a:txBody>
                    <a:bodyPr/>
                    <a:lstStyle/>
                    <a:p>
                      <a:r>
                        <a:t>Shwet Gaur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r>
                        <a:t>End-to-end pipeline ownership: step schema, parser, Playwright executor, notify agent, integration.</a:t>
                      </a: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85">
                <a:tc>
                  <a:txBody>
                    <a:bodyPr/>
                    <a:lstStyle/>
                    <a:p>
                      <a:r>
                        <a:t>Sahishnu Raut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r>
                        <a:t>Playwright action coverage, assertions, demo scenarios, failure screenshot tooling.</a:t>
                      </a: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385">
                <a:tc>
                  <a:txBody>
                    <a:bodyPr/>
                    <a:lstStyle/>
                    <a:p>
                      <a:r>
                        <a:t>Eesha Barad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r>
                        <a:t>Platform APIs/DB, dashboard &amp; report storage, notify service plumbing, GitHub structure.</a:t>
                      </a: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5">
                <a:tc>
                  <a:txBody>
                    <a:bodyPr/>
                    <a:lstStyle/>
                    <a:p>
                      <a:r>
                        <a:t>Saksham Sharma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r>
                        <a:t>QA sample test cases, pass/fail report review, literature support, evaluation notes.</a:t>
                      </a: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14d6a3a13_0_43"/>
          <p:cNvSpPr/>
          <p:nvPr/>
        </p:nvSpPr>
        <p:spPr>
          <a:xfrm rot="5400000">
            <a:off x="5046630" y="2279423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B7CCE4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7CC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314d6a3a13_0_43"/>
          <p:cNvSpPr/>
          <p:nvPr/>
        </p:nvSpPr>
        <p:spPr>
          <a:xfrm rot="5400000">
            <a:off x="3862067" y="644723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314d6a3a13_0_43"/>
          <p:cNvSpPr/>
          <p:nvPr/>
        </p:nvSpPr>
        <p:spPr>
          <a:xfrm rot="-5400000">
            <a:off x="713530" y="644735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B7CCE4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314d6a3a13_0_43"/>
          <p:cNvSpPr txBox="1">
            <a:spLocks noGrp="1"/>
          </p:cNvSpPr>
          <p:nvPr>
            <p:ph type="title"/>
          </p:nvPr>
        </p:nvSpPr>
        <p:spPr>
          <a:xfrm>
            <a:off x="1657347" y="640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Introduction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314d6a3a13_0_4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28-07-2026</a:t>
            </a:r>
            <a:endParaRPr/>
          </a:p>
        </p:txBody>
      </p:sp>
      <p:sp>
        <p:nvSpPr>
          <p:cNvPr id="134" name="Google Shape;134;g3314d6a3a13_0_4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35" name="Google Shape;135;g3314d6a3a13_0_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37" name="Google Shape;137;g3314d6a3a13_0_43"/>
          <p:cNvSpPr/>
          <p:nvPr/>
        </p:nvSpPr>
        <p:spPr>
          <a:xfrm rot="-5400000">
            <a:off x="947417" y="644735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B7CCE4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314d6a3a13_0_43"/>
          <p:cNvSpPr/>
          <p:nvPr/>
        </p:nvSpPr>
        <p:spPr>
          <a:xfrm rot="-5400000">
            <a:off x="2128280" y="2279423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D3C9C0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314d6a3a13_0_43"/>
          <p:cNvSpPr/>
          <p:nvPr/>
        </p:nvSpPr>
        <p:spPr>
          <a:xfrm rot="-5400000">
            <a:off x="3275205" y="3914123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314d6a3a13_0_43"/>
          <p:cNvSpPr/>
          <p:nvPr/>
        </p:nvSpPr>
        <p:spPr>
          <a:xfrm rot="-5400000">
            <a:off x="713530" y="2279423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D3C9C0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314d6a3a13_0_43"/>
          <p:cNvSpPr/>
          <p:nvPr/>
        </p:nvSpPr>
        <p:spPr>
          <a:xfrm rot="-5400000">
            <a:off x="1158405" y="3914123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314d6a3a13_0_43"/>
          <p:cNvSpPr/>
          <p:nvPr/>
        </p:nvSpPr>
        <p:spPr>
          <a:xfrm rot="-5400000">
            <a:off x="713530" y="3914123"/>
            <a:ext cx="1419860" cy="2846920"/>
          </a:xfrm>
          <a:custGeom>
            <a:avLst/>
            <a:gdLst/>
            <a:ahLst/>
            <a:cxnLst/>
            <a:rect l="l" t="t" r="r" b="b"/>
            <a:pathLst>
              <a:path w="660400" h="1244555" extrusionOk="0">
                <a:moveTo>
                  <a:pt x="220252" y="1225486"/>
                </a:moveTo>
                <a:cubicBezTo>
                  <a:pt x="254109" y="1237000"/>
                  <a:pt x="292600" y="1244555"/>
                  <a:pt x="330378" y="1244555"/>
                </a:cubicBezTo>
                <a:cubicBezTo>
                  <a:pt x="368157" y="1244555"/>
                  <a:pt x="404509" y="1238078"/>
                  <a:pt x="438009" y="1226564"/>
                </a:cubicBezTo>
                <a:cubicBezTo>
                  <a:pt x="438723" y="1226205"/>
                  <a:pt x="439435" y="1226205"/>
                  <a:pt x="440148" y="1225845"/>
                </a:cubicBezTo>
                <a:cubicBezTo>
                  <a:pt x="565955" y="1179790"/>
                  <a:pt x="658618" y="1058176"/>
                  <a:pt x="660400" y="906462"/>
                </a:cubicBezTo>
                <a:lnTo>
                  <a:pt x="660400" y="0"/>
                </a:lnTo>
                <a:lnTo>
                  <a:pt x="0" y="0"/>
                </a:lnTo>
                <a:lnTo>
                  <a:pt x="0" y="905790"/>
                </a:lnTo>
                <a:cubicBezTo>
                  <a:pt x="1782" y="1058895"/>
                  <a:pt x="93019" y="1180510"/>
                  <a:pt x="220252" y="1225486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314d6a3a13_0_43"/>
          <p:cNvSpPr txBox="1"/>
          <p:nvPr/>
        </p:nvSpPr>
        <p:spPr>
          <a:xfrm>
            <a:off x="47862" y="3181887"/>
            <a:ext cx="4020000" cy="16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rgbClr val="2B313D"/>
                </a:solidFill>
                <a:latin typeface="Times New Roman"/>
                <a:cs typeface="Times New Roman"/>
              </a:rPr>
              <a:t>Agentic AI can interpret plain-text test steps and map them to browser actions with verification.</a:t>
            </a:r>
            <a:r>
              <a:rPr lang="en-IN" sz="1600" dirty="0">
                <a:solidFill>
                  <a:srgbClr val="2B313D"/>
                </a:solidFill>
                <a:latin typeface="Times New Roman"/>
                <a:cs typeface="Times New Roman"/>
                <a:sym typeface="Times New Roman"/>
              </a:rPr>
              <a:t/>
            </a:r>
            <a:endParaRPr sz="1600" dirty="0">
              <a:solidFill>
                <a:srgbClr val="2B313D"/>
              </a:solidFill>
              <a:latin typeface="Times New Roman"/>
              <a:cs typeface="Times New Roman"/>
              <a:sym typeface="Calibri"/>
            </a:endParaRPr>
          </a:p>
        </p:txBody>
      </p:sp>
      <p:sp>
        <p:nvSpPr>
          <p:cNvPr id="145" name="Google Shape;145;g3314d6a3a13_0_43"/>
          <p:cNvSpPr txBox="1"/>
          <p:nvPr/>
        </p:nvSpPr>
        <p:spPr>
          <a:xfrm>
            <a:off x="47862" y="1366375"/>
            <a:ext cx="2935200" cy="9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rgbClr val="2B313D"/>
                </a:solidFill>
                <a:latin typeface="Times New Roman"/>
                <a:cs typeface="Times New Roman"/>
              </a:rPr>
              <a:t>Manual web testing is slow and expensive, while release cycles demand faster Quality Engineering feedback.</a:t>
            </a:r>
            <a:endParaRPr sz="1600" dirty="0">
              <a:solidFill>
                <a:srgbClr val="2B313D"/>
              </a:solidFill>
              <a:latin typeface="Times New Roman"/>
              <a:cs typeface="Times New Roman"/>
              <a:sym typeface="Calibri"/>
            </a:endParaRPr>
          </a:p>
        </p:txBody>
      </p:sp>
      <p:sp>
        <p:nvSpPr>
          <p:cNvPr id="146" name="Google Shape;146;g3314d6a3a13_0_43"/>
          <p:cNvSpPr txBox="1"/>
          <p:nvPr/>
        </p:nvSpPr>
        <p:spPr>
          <a:xfrm>
            <a:off x="3344311" y="1358253"/>
            <a:ext cx="2433055" cy="12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US" sz="1600" dirty="0">
                <a:solidFill>
                  <a:srgbClr val="D3C9C0"/>
                </a:solidFill>
                <a:latin typeface="Times New Roman"/>
                <a:cs typeface="Times New Roman"/>
              </a:rPr>
              <a:t>Traditional automation scripts are brittle and break frequently when UI structure or selectors change.</a:t>
            </a:r>
            <a:endParaRPr sz="1600" dirty="0">
              <a:solidFill>
                <a:srgbClr val="D3C9C0"/>
              </a:solidFill>
              <a:latin typeface="Times New Roman"/>
              <a:cs typeface="Times New Roman"/>
              <a:sym typeface="Calibri"/>
            </a:endParaRPr>
          </a:p>
        </p:txBody>
      </p:sp>
      <p:sp>
        <p:nvSpPr>
          <p:cNvPr id="147" name="Google Shape;147;g3314d6a3a13_0_43"/>
          <p:cNvSpPr txBox="1"/>
          <p:nvPr/>
        </p:nvSpPr>
        <p:spPr>
          <a:xfrm>
            <a:off x="4356332" y="2924413"/>
            <a:ext cx="14568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>
              <a:buClr>
                <a:schemeClr val="dk1"/>
              </a:buClr>
              <a:buSzPts val="1100"/>
            </a:pPr>
            <a:r>
              <a:rPr lang="en-US" sz="1600" dirty="0">
                <a:solidFill>
                  <a:srgbClr val="2B313D"/>
                </a:solidFill>
                <a:latin typeface="Times New Roman"/>
                <a:cs typeface="Times New Roman"/>
              </a:rPr>
              <a:t>Existing tools are fragmented: execution, evidence-backed reporting, and team failure routing are rarely unified.</a:t>
            </a:r>
            <a:endParaRPr sz="1600" dirty="0">
              <a:solidFill>
                <a:srgbClr val="2B313D"/>
              </a:solidFill>
              <a:latin typeface="Times New Roman"/>
              <a:cs typeface="Times New Roman"/>
              <a:sym typeface="Calibri"/>
            </a:endParaRPr>
          </a:p>
        </p:txBody>
      </p:sp>
      <p:pic>
        <p:nvPicPr>
          <p:cNvPr id="1026" name="Picture 2" descr="Free Working on Laptop Image - Laptop, Work, Hands | Download at StockCake">
            <a:extLst>
              <a:ext uri="{FF2B5EF4-FFF2-40B4-BE49-F238E27FC236}">
                <a16:creationId xmlns:a16="http://schemas.microsoft.com/office/drawing/2014/main" id="{1D02C16A-F783-AD8D-DBB3-6B81F6E247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2" r="21843" b="11818"/>
          <a:stretch>
            <a:fillRect/>
          </a:stretch>
        </p:blipFill>
        <p:spPr bwMode="auto">
          <a:xfrm>
            <a:off x="5813132" y="1081138"/>
            <a:ext cx="3003835" cy="510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54BCD4-26BC-CC4B-D2CA-87B10A540600}"/>
              </a:ext>
            </a:extLst>
          </p:cNvPr>
          <p:cNvSpPr txBox="1"/>
          <p:nvPr/>
        </p:nvSpPr>
        <p:spPr>
          <a:xfrm>
            <a:off x="126657" y="4889868"/>
            <a:ext cx="4837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D3C9C0"/>
                </a:solidFill>
                <a:latin typeface="Times New Roman"/>
                <a:cs typeface="Times New Roman"/>
              </a:rPr>
              <a:t>Our executor unifies text-step execution, pass/fail documentation with evidence, and scrum-style notify to owning teams.</a:t>
            </a:r>
            <a:endParaRPr lang="en-IN" sz="1600" dirty="0">
              <a:solidFill>
                <a:srgbClr val="D3C9C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ECB9-0FB5-52BA-C115-B69C88EA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205" y="192911"/>
            <a:ext cx="3453745" cy="1325563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DE060-226D-48B0-0D31-07BBF9F58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10325"/>
            <a:ext cx="7886700" cy="1681929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1 (Dassault Systemes): Build an Agentic Web-App Test Executor that takes basic text steps as input, automatically replays user actions on a web application, executes the intended flow, and verifies whether the app behaves as expected — with pass/fail documentation and failure notification to the responsible team.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24C5B-59A0-3045-ECB4-5D6A8C3597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grpSp>
        <p:nvGrpSpPr>
          <p:cNvPr id="5" name="Google Shape;431;p42">
            <a:extLst>
              <a:ext uri="{FF2B5EF4-FFF2-40B4-BE49-F238E27FC236}">
                <a16:creationId xmlns:a16="http://schemas.microsoft.com/office/drawing/2014/main" id="{C19CCCAD-5C19-049D-3298-37828B2ECCB1}"/>
              </a:ext>
            </a:extLst>
          </p:cNvPr>
          <p:cNvGrpSpPr/>
          <p:nvPr/>
        </p:nvGrpSpPr>
        <p:grpSpPr>
          <a:xfrm>
            <a:off x="8601510" y="569860"/>
            <a:ext cx="562035" cy="6288137"/>
            <a:chOff x="0" y="427871"/>
            <a:chExt cx="1199700" cy="4721354"/>
          </a:xfrm>
        </p:grpSpPr>
        <p:sp>
          <p:nvSpPr>
            <p:cNvPr id="14" name="Google Shape;432;p42">
              <a:extLst>
                <a:ext uri="{FF2B5EF4-FFF2-40B4-BE49-F238E27FC236}">
                  <a16:creationId xmlns:a16="http://schemas.microsoft.com/office/drawing/2014/main" id="{8263FA74-F416-A906-C987-B72AD299CF68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3;p42">
              <a:extLst>
                <a:ext uri="{FF2B5EF4-FFF2-40B4-BE49-F238E27FC236}">
                  <a16:creationId xmlns:a16="http://schemas.microsoft.com/office/drawing/2014/main" id="{C1116E5A-4482-CEF9-61DB-7A07C10954F5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4;p42">
              <a:extLst>
                <a:ext uri="{FF2B5EF4-FFF2-40B4-BE49-F238E27FC236}">
                  <a16:creationId xmlns:a16="http://schemas.microsoft.com/office/drawing/2014/main" id="{12D299FE-1DD6-C1F8-F134-FDBA8828C0F6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5;p42">
              <a:extLst>
                <a:ext uri="{FF2B5EF4-FFF2-40B4-BE49-F238E27FC236}">
                  <a16:creationId xmlns:a16="http://schemas.microsoft.com/office/drawing/2014/main" id="{3B0B2FA0-1F95-A506-1C63-9DA197F70909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436;p42">
              <a:extLst>
                <a:ext uri="{FF2B5EF4-FFF2-40B4-BE49-F238E27FC236}">
                  <a16:creationId xmlns:a16="http://schemas.microsoft.com/office/drawing/2014/main" id="{B69C831A-F660-11D4-F11F-F454D2A37AC3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437;p42">
              <a:extLst>
                <a:ext uri="{FF2B5EF4-FFF2-40B4-BE49-F238E27FC236}">
                  <a16:creationId xmlns:a16="http://schemas.microsoft.com/office/drawing/2014/main" id="{9B767204-FD92-0425-863D-D1A8C2CCB20E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8;p42">
              <a:extLst>
                <a:ext uri="{FF2B5EF4-FFF2-40B4-BE49-F238E27FC236}">
                  <a16:creationId xmlns:a16="http://schemas.microsoft.com/office/drawing/2014/main" id="{680932B2-27B6-0173-A084-6E53047B5DAB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" name="Google Shape;431;p42">
            <a:extLst>
              <a:ext uri="{FF2B5EF4-FFF2-40B4-BE49-F238E27FC236}">
                <a16:creationId xmlns:a16="http://schemas.microsoft.com/office/drawing/2014/main" id="{C2E0D596-C3A0-D051-0F83-B395420549B5}"/>
              </a:ext>
            </a:extLst>
          </p:cNvPr>
          <p:cNvGrpSpPr/>
          <p:nvPr/>
        </p:nvGrpSpPr>
        <p:grpSpPr>
          <a:xfrm>
            <a:off x="-19545" y="0"/>
            <a:ext cx="562035" cy="6857997"/>
            <a:chOff x="0" y="0"/>
            <a:chExt cx="1199700" cy="5149225"/>
          </a:xfrm>
        </p:grpSpPr>
        <p:sp>
          <p:nvSpPr>
            <p:cNvPr id="7" name="Google Shape;432;p42">
              <a:extLst>
                <a:ext uri="{FF2B5EF4-FFF2-40B4-BE49-F238E27FC236}">
                  <a16:creationId xmlns:a16="http://schemas.microsoft.com/office/drawing/2014/main" id="{47DF8A2E-BECC-D43C-D612-D06796B56D9D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433;p42">
              <a:extLst>
                <a:ext uri="{FF2B5EF4-FFF2-40B4-BE49-F238E27FC236}">
                  <a16:creationId xmlns:a16="http://schemas.microsoft.com/office/drawing/2014/main" id="{3134DF78-2903-5A83-D023-E52F0F4B3FC9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434;p42">
              <a:extLst>
                <a:ext uri="{FF2B5EF4-FFF2-40B4-BE49-F238E27FC236}">
                  <a16:creationId xmlns:a16="http://schemas.microsoft.com/office/drawing/2014/main" id="{B5A758E1-B0B8-BC16-B150-82C750BB0D44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435;p42">
              <a:extLst>
                <a:ext uri="{FF2B5EF4-FFF2-40B4-BE49-F238E27FC236}">
                  <a16:creationId xmlns:a16="http://schemas.microsoft.com/office/drawing/2014/main" id="{6123EDFE-9DE0-5EFD-B670-F46007278A8F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436;p42">
              <a:extLst>
                <a:ext uri="{FF2B5EF4-FFF2-40B4-BE49-F238E27FC236}">
                  <a16:creationId xmlns:a16="http://schemas.microsoft.com/office/drawing/2014/main" id="{61244A6A-DFD5-B3A0-64E6-15B304578A86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7;p42">
              <a:extLst>
                <a:ext uri="{FF2B5EF4-FFF2-40B4-BE49-F238E27FC236}">
                  <a16:creationId xmlns:a16="http://schemas.microsoft.com/office/drawing/2014/main" id="{50F74666-1CB1-CD58-0B75-4D264CC4B179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438;p42">
              <a:extLst>
                <a:ext uri="{FF2B5EF4-FFF2-40B4-BE49-F238E27FC236}">
                  <a16:creationId xmlns:a16="http://schemas.microsoft.com/office/drawing/2014/main" id="{CE1BD515-9063-5DFE-BC4D-B2ADE4F7105F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74445C9-E244-7B63-E176-3346CA2EBE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8049" y="3116042"/>
            <a:ext cx="6435926" cy="324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8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B1DC-DF2B-C304-C1FD-8F623193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618" y="320674"/>
            <a:ext cx="4414690" cy="1325563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IN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08BD8-0932-70A8-6EA4-A047BD568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plain-text test steps into structured executable actions for web flows (login, form fill, navigate, validate).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r>
              <a:t>Execute and verify flows automatically using Playwright-based browser automation with evidence capture.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structured pass/fail documentation (step-level status, screenshots, errors) for every run.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r>
              <a:t>Notify the owning team on failure using a scrum-master-style routing map (module → team → alert/ticket).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CFCD2-8DF7-9CE2-26E9-7DB1F3086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grpSp>
        <p:nvGrpSpPr>
          <p:cNvPr id="5" name="Google Shape;431;p42">
            <a:extLst>
              <a:ext uri="{FF2B5EF4-FFF2-40B4-BE49-F238E27FC236}">
                <a16:creationId xmlns:a16="http://schemas.microsoft.com/office/drawing/2014/main" id="{7BEFCF55-03B3-935A-468B-E297081C05DA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6" name="Google Shape;432;p42">
              <a:extLst>
                <a:ext uri="{FF2B5EF4-FFF2-40B4-BE49-F238E27FC236}">
                  <a16:creationId xmlns:a16="http://schemas.microsoft.com/office/drawing/2014/main" id="{E71D3C5A-6A8D-F579-DB5F-14F1230E3701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433;p42">
              <a:extLst>
                <a:ext uri="{FF2B5EF4-FFF2-40B4-BE49-F238E27FC236}">
                  <a16:creationId xmlns:a16="http://schemas.microsoft.com/office/drawing/2014/main" id="{A7A6B24F-16BD-57A1-8621-73519DD7DE5D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434;p42">
              <a:extLst>
                <a:ext uri="{FF2B5EF4-FFF2-40B4-BE49-F238E27FC236}">
                  <a16:creationId xmlns:a16="http://schemas.microsoft.com/office/drawing/2014/main" id="{27634EE1-7083-35C8-75E6-D6E887A1403F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435;p42">
              <a:extLst>
                <a:ext uri="{FF2B5EF4-FFF2-40B4-BE49-F238E27FC236}">
                  <a16:creationId xmlns:a16="http://schemas.microsoft.com/office/drawing/2014/main" id="{C457B56F-6C9B-A4BD-80F6-2E9A4C9649B6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436;p42">
              <a:extLst>
                <a:ext uri="{FF2B5EF4-FFF2-40B4-BE49-F238E27FC236}">
                  <a16:creationId xmlns:a16="http://schemas.microsoft.com/office/drawing/2014/main" id="{8DD5089D-717B-5873-E0E7-88054F8A3129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437;p42">
              <a:extLst>
                <a:ext uri="{FF2B5EF4-FFF2-40B4-BE49-F238E27FC236}">
                  <a16:creationId xmlns:a16="http://schemas.microsoft.com/office/drawing/2014/main" id="{2D1189EE-6854-5F51-E598-B222E28D2E39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8;p42">
              <a:extLst>
                <a:ext uri="{FF2B5EF4-FFF2-40B4-BE49-F238E27FC236}">
                  <a16:creationId xmlns:a16="http://schemas.microsoft.com/office/drawing/2014/main" id="{19538A14-23E7-0FC4-4051-BCBC5E80B0A7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431;p42">
            <a:extLst>
              <a:ext uri="{FF2B5EF4-FFF2-40B4-BE49-F238E27FC236}">
                <a16:creationId xmlns:a16="http://schemas.microsoft.com/office/drawing/2014/main" id="{F36DF3DE-FEF6-D493-BE12-DB66E4A1EF62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14" name="Google Shape;432;p42">
              <a:extLst>
                <a:ext uri="{FF2B5EF4-FFF2-40B4-BE49-F238E27FC236}">
                  <a16:creationId xmlns:a16="http://schemas.microsoft.com/office/drawing/2014/main" id="{9218DC1C-F34A-9B69-E489-5D95CF63B0CA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3;p42">
              <a:extLst>
                <a:ext uri="{FF2B5EF4-FFF2-40B4-BE49-F238E27FC236}">
                  <a16:creationId xmlns:a16="http://schemas.microsoft.com/office/drawing/2014/main" id="{6C33CD94-5712-D04D-DE9F-A96C4D1E0EB4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4;p42">
              <a:extLst>
                <a:ext uri="{FF2B5EF4-FFF2-40B4-BE49-F238E27FC236}">
                  <a16:creationId xmlns:a16="http://schemas.microsoft.com/office/drawing/2014/main" id="{4DB47185-9140-1B5E-D5DD-8EC1F04CDF0B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5;p42">
              <a:extLst>
                <a:ext uri="{FF2B5EF4-FFF2-40B4-BE49-F238E27FC236}">
                  <a16:creationId xmlns:a16="http://schemas.microsoft.com/office/drawing/2014/main" id="{44261DF1-1222-FCB6-7353-7E1194A7BDE1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436;p42">
              <a:extLst>
                <a:ext uri="{FF2B5EF4-FFF2-40B4-BE49-F238E27FC236}">
                  <a16:creationId xmlns:a16="http://schemas.microsoft.com/office/drawing/2014/main" id="{5E270B12-8910-51D8-C8D3-E2E750722CCA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437;p42">
              <a:extLst>
                <a:ext uri="{FF2B5EF4-FFF2-40B4-BE49-F238E27FC236}">
                  <a16:creationId xmlns:a16="http://schemas.microsoft.com/office/drawing/2014/main" id="{B9BEE63A-F662-EF1B-C292-D31EE2CDEDA1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8;p42">
              <a:extLst>
                <a:ext uri="{FF2B5EF4-FFF2-40B4-BE49-F238E27FC236}">
                  <a16:creationId xmlns:a16="http://schemas.microsoft.com/office/drawing/2014/main" id="{1A6C204E-624A-C62F-EA2D-F5506992F2A7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268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B875-D53A-02E7-E9E5-A2046FD8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67" y="136524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with timeline</a:t>
            </a:r>
            <a:endParaRPr lang="en-IN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E8CC8-AA3E-E9A7-53DC-72379CC3B9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grpSp>
        <p:nvGrpSpPr>
          <p:cNvPr id="9" name="Google Shape;431;p42">
            <a:extLst>
              <a:ext uri="{FF2B5EF4-FFF2-40B4-BE49-F238E27FC236}">
                <a16:creationId xmlns:a16="http://schemas.microsoft.com/office/drawing/2014/main" id="{52FF10AC-5A96-8BEC-1EC5-B7C2041E6AD4}"/>
              </a:ext>
            </a:extLst>
          </p:cNvPr>
          <p:cNvGrpSpPr/>
          <p:nvPr/>
        </p:nvGrpSpPr>
        <p:grpSpPr>
          <a:xfrm rot="16200000">
            <a:off x="4290983" y="2004983"/>
            <a:ext cx="562035" cy="9144001"/>
            <a:chOff x="0" y="0"/>
            <a:chExt cx="1199700" cy="5149225"/>
          </a:xfrm>
        </p:grpSpPr>
        <p:sp>
          <p:nvSpPr>
            <p:cNvPr id="10" name="Google Shape;432;p42">
              <a:extLst>
                <a:ext uri="{FF2B5EF4-FFF2-40B4-BE49-F238E27FC236}">
                  <a16:creationId xmlns:a16="http://schemas.microsoft.com/office/drawing/2014/main" id="{0107C899-6010-E205-073D-F0F7C4D4D2E0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433;p42">
              <a:extLst>
                <a:ext uri="{FF2B5EF4-FFF2-40B4-BE49-F238E27FC236}">
                  <a16:creationId xmlns:a16="http://schemas.microsoft.com/office/drawing/2014/main" id="{358A37A2-6327-44B2-7477-E1A52A7067B9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4;p42">
              <a:extLst>
                <a:ext uri="{FF2B5EF4-FFF2-40B4-BE49-F238E27FC236}">
                  <a16:creationId xmlns:a16="http://schemas.microsoft.com/office/drawing/2014/main" id="{6D3CFCF5-9B64-72D8-46B4-801B31E8C19C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435;p42">
              <a:extLst>
                <a:ext uri="{FF2B5EF4-FFF2-40B4-BE49-F238E27FC236}">
                  <a16:creationId xmlns:a16="http://schemas.microsoft.com/office/drawing/2014/main" id="{19A2C190-B7C0-D30C-E6BA-F48996664E11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436;p42">
              <a:extLst>
                <a:ext uri="{FF2B5EF4-FFF2-40B4-BE49-F238E27FC236}">
                  <a16:creationId xmlns:a16="http://schemas.microsoft.com/office/drawing/2014/main" id="{D319FEFB-EB2C-4730-D1B7-A67C1DBDF42F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7;p42">
              <a:extLst>
                <a:ext uri="{FF2B5EF4-FFF2-40B4-BE49-F238E27FC236}">
                  <a16:creationId xmlns:a16="http://schemas.microsoft.com/office/drawing/2014/main" id="{1F820018-F6CF-4F5F-5407-6748F23A6CDB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8;p42">
              <a:extLst>
                <a:ext uri="{FF2B5EF4-FFF2-40B4-BE49-F238E27FC236}">
                  <a16:creationId xmlns:a16="http://schemas.microsoft.com/office/drawing/2014/main" id="{E440BEFB-9926-ED62-E440-CA110A1C6866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7" name="Picture 16" descr="ds1_timeline_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40" y="1555565"/>
            <a:ext cx="8776355" cy="390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9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F331-772F-B6C8-8880-38D2F52C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59718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49CF2-D932-FAD9-2FCC-873720EE8B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graphicFrame>
        <p:nvGraphicFramePr>
          <p:cNvPr id="5" name="Google Shape;184;g33121007473_0_48">
            <a:extLst>
              <a:ext uri="{FF2B5EF4-FFF2-40B4-BE49-F238E27FC236}">
                <a16:creationId xmlns:a16="http://schemas.microsoft.com/office/drawing/2014/main" id="{A2F9FA88-654E-A295-908A-CAD6161816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38118"/>
              </p:ext>
            </p:extLst>
          </p:nvPr>
        </p:nvGraphicFramePr>
        <p:xfrm>
          <a:off x="134224" y="598717"/>
          <a:ext cx="8875551" cy="612276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79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4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2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SOURCE / WORK</a:t>
                      </a:r>
                      <a:endParaRPr sz="700" b="1" dirty="0"/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YEAR</a:t>
                      </a:r>
                      <a:endParaRPr sz="700" b="1"/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APPROACH</a:t>
                      </a:r>
                      <a:endParaRPr sz="700" b="1" dirty="0"/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RESULT / INSIGHT</a:t>
                      </a:r>
                      <a:endParaRPr sz="700" b="1" dirty="0"/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RESEARCH GAPS</a:t>
                      </a:r>
                      <a:endParaRPr sz="700" b="1" dirty="0"/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2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1" dirty="0">
                          <a:effectLst/>
                        </a:rPr>
                        <a:t>Playwright Test Agents (Planner/Generator/Healer)</a:t>
                      </a:r>
                      <a:r>
                        <a:rPr lang="en-US" sz="1000" b="0" i="0" dirty="0">
                          <a:effectLst/>
                        </a:rPr>
                        <a:t/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75" marB="2287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2025-26</a:t>
                      </a:r>
                      <a:endParaRPr sz="700" dirty="0"/>
                    </a:p>
                  </a:txBody>
                  <a:tcPr marL="45725" marR="45725" marT="22875" marB="2287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>Agentic plan → generate → heal tests</a:t>
                      </a:r>
                    </a:p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/>
                      </a:r>
                      <a:r>
                        <a:rPr lang="en-IN" sz="1000" dirty="0"/>
                        <a:t/>
                      </a:r>
                    </a:p>
                  </a:txBody>
                  <a:tcPr marL="45725" marR="45725" marT="22875" marB="2287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Industrial NL/plan-driven Playwright automation</a:t>
                      </a:r>
                    </a:p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45725" marR="45725" marT="22875" marB="2287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Limited unified pass/fail docs + team notify workflow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45725" marR="45725" marT="22875" marB="2287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90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1" dirty="0">
                          <a:effectLst/>
                        </a:rPr>
                        <a:t>Tricentis Testim</a:t>
                      </a:r>
                      <a:r>
                        <a:rPr lang="en-US" sz="1000" b="0" i="0" dirty="0">
                          <a:effectLst/>
                        </a:rPr>
                        <a:t/>
                      </a:r>
                      <a:endParaRPr sz="900" dirty="0"/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Ongoing</a:t>
                      </a:r>
                      <a:endParaRPr sz="700" dirty="0"/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AI smart locators / NL authoring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Reduces brittle UI automation maintenance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Closed commercial system; not open academic prototype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45725" marR="45725" marT="22875" marB="2287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01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1" dirty="0">
                          <a:effectLst/>
                        </a:rPr>
                        <a:t>Nass, Alegroth &amp; Feldt (STVR)</a:t>
                      </a:r>
                      <a:r>
                        <a:rPr lang="en-US" sz="1000" b="0" i="0" dirty="0">
                          <a:effectLst/>
                        </a:rPr>
                        <a:t/>
                      </a:r>
                      <a:endParaRPr sz="1000" b="0" i="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000" b="0" i="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>LLM for web element localization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Better localization when selectors fail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Not a full text-step executor + reporting pipeline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554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1" dirty="0">
                          <a:effectLst/>
                        </a:rPr>
                        <a:t>ICECIT — Generative AI Self-Healing Selenium</a:t>
                      </a:r>
                      <a:r>
                        <a:rPr lang="en-US" sz="1000" b="0" i="0" dirty="0">
                          <a:effectLst/>
                        </a:rPr>
                        <a:t/>
                      </a:r>
                      <a:endParaRPr sz="1000" b="0" i="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2225" marR="22225" marT="22225" marB="222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000" b="0" i="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2225" marR="22225" marT="22225" marB="222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LLM vs rule-based locator repair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22225" marR="22225" marT="22225" marB="222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LLMs can outperform heuristics on repair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22225" marR="22225" marT="22225" marB="222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Focus on healing scripts, not NL execution + notify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22225" marR="22225" marT="22225" marB="222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26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1" dirty="0">
                          <a:effectLst/>
                        </a:rPr>
                        <a:t>JAIGS — RL (PPO) Self-Heal in Playwright</a:t>
                      </a:r>
                      <a:r>
                        <a:rPr lang="en-US" sz="1000" b="0" i="0" dirty="0">
                          <a:effectLst/>
                        </a:rPr>
                        <a:t/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latin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700" dirty="0"/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RL adaptive XPath recovery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  <a:sym typeface="Times New Roman"/>
                      </a:endParaRP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Reduces maintenance under UI change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Does not cover scrum-style failure routing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/>
                      </a:r>
                    </a:p>
                  </a:txBody>
                  <a:tcPr marL="22225" marR="22225" marT="22225" marB="222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068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EB6C-54B4-A86A-6C92-EEBA5BA32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in the Research / Technology / Methodology</a:t>
            </a:r>
            <a:endParaRPr lang="en-IN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3628E-14B3-E4F0-3328-4419627F2C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sp>
        <p:nvSpPr>
          <p:cNvPr id="6" name="Google Shape;193;g3314d6a3a13_0_6">
            <a:extLst>
              <a:ext uri="{FF2B5EF4-FFF2-40B4-BE49-F238E27FC236}">
                <a16:creationId xmlns:a16="http://schemas.microsoft.com/office/drawing/2014/main" id="{B4279F09-583D-E7F6-774F-31081C34B842}"/>
              </a:ext>
            </a:extLst>
          </p:cNvPr>
          <p:cNvSpPr/>
          <p:nvPr/>
        </p:nvSpPr>
        <p:spPr>
          <a:xfrm>
            <a:off x="1960745" y="2556530"/>
            <a:ext cx="2131568" cy="2130920"/>
          </a:xfrm>
          <a:custGeom>
            <a:avLst/>
            <a:gdLst/>
            <a:ahLst/>
            <a:cxnLst/>
            <a:rect l="l" t="t" r="r" b="b"/>
            <a:pathLst>
              <a:path w="812800" h="812553" extrusionOk="0">
                <a:moveTo>
                  <a:pt x="406400" y="0"/>
                </a:moveTo>
                <a:cubicBezTo>
                  <a:pt x="181951" y="0"/>
                  <a:pt x="0" y="181896"/>
                  <a:pt x="0" y="406276"/>
                </a:cubicBezTo>
                <a:cubicBezTo>
                  <a:pt x="0" y="630657"/>
                  <a:pt x="181951" y="812553"/>
                  <a:pt x="406400" y="812553"/>
                </a:cubicBezTo>
                <a:cubicBezTo>
                  <a:pt x="630849" y="812553"/>
                  <a:pt x="812800" y="630657"/>
                  <a:pt x="812800" y="406276"/>
                </a:cubicBezTo>
                <a:cubicBezTo>
                  <a:pt x="812800" y="181896"/>
                  <a:pt x="630849" y="0"/>
                  <a:pt x="406400" y="0"/>
                </a:cubicBezTo>
                <a:close/>
              </a:path>
            </a:pathLst>
          </a:custGeom>
          <a:solidFill>
            <a:srgbClr val="ACB6C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4;g3314d6a3a13_0_6">
            <a:extLst>
              <a:ext uri="{FF2B5EF4-FFF2-40B4-BE49-F238E27FC236}">
                <a16:creationId xmlns:a16="http://schemas.microsoft.com/office/drawing/2014/main" id="{5B99053E-83EC-9070-86A3-5CA50DAED557}"/>
              </a:ext>
            </a:extLst>
          </p:cNvPr>
          <p:cNvSpPr/>
          <p:nvPr/>
        </p:nvSpPr>
        <p:spPr>
          <a:xfrm>
            <a:off x="568900" y="2764691"/>
            <a:ext cx="1715008" cy="1714487"/>
          </a:xfrm>
          <a:custGeom>
            <a:avLst/>
            <a:gdLst/>
            <a:ahLst/>
            <a:cxnLst/>
            <a:rect l="l" t="t" r="r" b="b"/>
            <a:pathLst>
              <a:path w="812800" h="812553" extrusionOk="0">
                <a:moveTo>
                  <a:pt x="406400" y="0"/>
                </a:moveTo>
                <a:cubicBezTo>
                  <a:pt x="181951" y="0"/>
                  <a:pt x="0" y="181896"/>
                  <a:pt x="0" y="406276"/>
                </a:cubicBezTo>
                <a:cubicBezTo>
                  <a:pt x="0" y="630657"/>
                  <a:pt x="181951" y="812553"/>
                  <a:pt x="406400" y="812553"/>
                </a:cubicBezTo>
                <a:cubicBezTo>
                  <a:pt x="630849" y="812553"/>
                  <a:pt x="812800" y="630657"/>
                  <a:pt x="812800" y="406276"/>
                </a:cubicBezTo>
                <a:cubicBezTo>
                  <a:pt x="812800" y="181896"/>
                  <a:pt x="630849" y="0"/>
                  <a:pt x="406400" y="0"/>
                </a:cubicBezTo>
                <a:close/>
              </a:path>
            </a:pathLst>
          </a:custGeom>
          <a:solidFill>
            <a:srgbClr val="B7CCE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5;g3314d6a3a13_0_6">
            <a:extLst>
              <a:ext uri="{FF2B5EF4-FFF2-40B4-BE49-F238E27FC236}">
                <a16:creationId xmlns:a16="http://schemas.microsoft.com/office/drawing/2014/main" id="{207F2E3F-7413-6E4B-E126-932588A37BE4}"/>
              </a:ext>
            </a:extLst>
          </p:cNvPr>
          <p:cNvSpPr/>
          <p:nvPr/>
        </p:nvSpPr>
        <p:spPr>
          <a:xfrm>
            <a:off x="5160884" y="2556530"/>
            <a:ext cx="2131568" cy="2130920"/>
          </a:xfrm>
          <a:custGeom>
            <a:avLst/>
            <a:gdLst/>
            <a:ahLst/>
            <a:cxnLst/>
            <a:rect l="l" t="t" r="r" b="b"/>
            <a:pathLst>
              <a:path w="812800" h="812553" extrusionOk="0">
                <a:moveTo>
                  <a:pt x="406400" y="0"/>
                </a:moveTo>
                <a:cubicBezTo>
                  <a:pt x="181951" y="0"/>
                  <a:pt x="0" y="181896"/>
                  <a:pt x="0" y="406276"/>
                </a:cubicBezTo>
                <a:cubicBezTo>
                  <a:pt x="0" y="630657"/>
                  <a:pt x="181951" y="812553"/>
                  <a:pt x="406400" y="812553"/>
                </a:cubicBezTo>
                <a:cubicBezTo>
                  <a:pt x="630849" y="812553"/>
                  <a:pt x="812800" y="630657"/>
                  <a:pt x="812800" y="406276"/>
                </a:cubicBezTo>
                <a:cubicBezTo>
                  <a:pt x="812800" y="181896"/>
                  <a:pt x="630849" y="0"/>
                  <a:pt x="406400" y="0"/>
                </a:cubicBezTo>
                <a:close/>
              </a:path>
            </a:pathLst>
          </a:custGeom>
          <a:solidFill>
            <a:srgbClr val="ACB6C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96;g3314d6a3a13_0_6">
            <a:extLst>
              <a:ext uri="{FF2B5EF4-FFF2-40B4-BE49-F238E27FC236}">
                <a16:creationId xmlns:a16="http://schemas.microsoft.com/office/drawing/2014/main" id="{4EC2B10A-CFE5-655A-682F-4FFFBCE8EF90}"/>
              </a:ext>
            </a:extLst>
          </p:cNvPr>
          <p:cNvSpPr/>
          <p:nvPr/>
        </p:nvSpPr>
        <p:spPr>
          <a:xfrm>
            <a:off x="6969203" y="2764691"/>
            <a:ext cx="1715008" cy="1714487"/>
          </a:xfrm>
          <a:custGeom>
            <a:avLst/>
            <a:gdLst/>
            <a:ahLst/>
            <a:cxnLst/>
            <a:rect l="l" t="t" r="r" b="b"/>
            <a:pathLst>
              <a:path w="812800" h="812553" extrusionOk="0">
                <a:moveTo>
                  <a:pt x="406400" y="0"/>
                </a:moveTo>
                <a:cubicBezTo>
                  <a:pt x="181951" y="0"/>
                  <a:pt x="0" y="181896"/>
                  <a:pt x="0" y="406276"/>
                </a:cubicBezTo>
                <a:cubicBezTo>
                  <a:pt x="0" y="630657"/>
                  <a:pt x="181951" y="812553"/>
                  <a:pt x="406400" y="812553"/>
                </a:cubicBezTo>
                <a:cubicBezTo>
                  <a:pt x="630849" y="812553"/>
                  <a:pt x="812800" y="630657"/>
                  <a:pt x="812800" y="406276"/>
                </a:cubicBezTo>
                <a:cubicBezTo>
                  <a:pt x="812800" y="181896"/>
                  <a:pt x="630849" y="0"/>
                  <a:pt x="406400" y="0"/>
                </a:cubicBezTo>
                <a:close/>
              </a:path>
            </a:pathLst>
          </a:custGeom>
          <a:solidFill>
            <a:srgbClr val="67799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97;g3314d6a3a13_0_6">
            <a:extLst>
              <a:ext uri="{FF2B5EF4-FFF2-40B4-BE49-F238E27FC236}">
                <a16:creationId xmlns:a16="http://schemas.microsoft.com/office/drawing/2014/main" id="{D30166B5-3019-B4DF-14B4-EB13AFA34E97}"/>
              </a:ext>
            </a:extLst>
          </p:cNvPr>
          <p:cNvSpPr/>
          <p:nvPr/>
        </p:nvSpPr>
        <p:spPr>
          <a:xfrm>
            <a:off x="1719781" y="3061990"/>
            <a:ext cx="749831" cy="191207"/>
          </a:xfrm>
          <a:custGeom>
            <a:avLst/>
            <a:gdLst/>
            <a:ahLst/>
            <a:cxnLst/>
            <a:rect l="l" t="t" r="r" b="b"/>
            <a:pathLst>
              <a:path w="1499661" h="382414" extrusionOk="0">
                <a:moveTo>
                  <a:pt x="0" y="0"/>
                </a:moveTo>
                <a:lnTo>
                  <a:pt x="1499661" y="0"/>
                </a:lnTo>
                <a:lnTo>
                  <a:pt x="1499661" y="382414"/>
                </a:lnTo>
                <a:lnTo>
                  <a:pt x="0" y="382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Google Shape;198;g3314d6a3a13_0_6">
            <a:extLst>
              <a:ext uri="{FF2B5EF4-FFF2-40B4-BE49-F238E27FC236}">
                <a16:creationId xmlns:a16="http://schemas.microsoft.com/office/drawing/2014/main" id="{6886E7B3-1B61-A160-3B71-4DF0F2DC68EE}"/>
              </a:ext>
            </a:extLst>
          </p:cNvPr>
          <p:cNvSpPr/>
          <p:nvPr/>
        </p:nvSpPr>
        <p:spPr>
          <a:xfrm>
            <a:off x="3769039" y="2764691"/>
            <a:ext cx="1715008" cy="1714487"/>
          </a:xfrm>
          <a:custGeom>
            <a:avLst/>
            <a:gdLst/>
            <a:ahLst/>
            <a:cxnLst/>
            <a:rect l="l" t="t" r="r" b="b"/>
            <a:pathLst>
              <a:path w="812800" h="812553" extrusionOk="0">
                <a:moveTo>
                  <a:pt x="406400" y="0"/>
                </a:moveTo>
                <a:cubicBezTo>
                  <a:pt x="181951" y="0"/>
                  <a:pt x="0" y="181896"/>
                  <a:pt x="0" y="406276"/>
                </a:cubicBezTo>
                <a:cubicBezTo>
                  <a:pt x="0" y="630657"/>
                  <a:pt x="181951" y="812553"/>
                  <a:pt x="406400" y="812553"/>
                </a:cubicBezTo>
                <a:cubicBezTo>
                  <a:pt x="630849" y="812553"/>
                  <a:pt x="812800" y="630657"/>
                  <a:pt x="812800" y="406276"/>
                </a:cubicBezTo>
                <a:cubicBezTo>
                  <a:pt x="812800" y="181896"/>
                  <a:pt x="630849" y="0"/>
                  <a:pt x="406400" y="0"/>
                </a:cubicBezTo>
                <a:close/>
              </a:path>
            </a:pathLst>
          </a:custGeom>
          <a:solidFill>
            <a:srgbClr val="465E8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2" name="Google Shape;199;g3314d6a3a13_0_6">
            <a:extLst>
              <a:ext uri="{FF2B5EF4-FFF2-40B4-BE49-F238E27FC236}">
                <a16:creationId xmlns:a16="http://schemas.microsoft.com/office/drawing/2014/main" id="{C2B87CA0-1190-093A-6BBD-9FB1056B6564}"/>
              </a:ext>
            </a:extLst>
          </p:cNvPr>
          <p:cNvSpPr/>
          <p:nvPr/>
        </p:nvSpPr>
        <p:spPr>
          <a:xfrm>
            <a:off x="5127555" y="3061990"/>
            <a:ext cx="749831" cy="191207"/>
          </a:xfrm>
          <a:custGeom>
            <a:avLst/>
            <a:gdLst/>
            <a:ahLst/>
            <a:cxnLst/>
            <a:rect l="l" t="t" r="r" b="b"/>
            <a:pathLst>
              <a:path w="1499661" h="382414" extrusionOk="0">
                <a:moveTo>
                  <a:pt x="0" y="0"/>
                </a:moveTo>
                <a:lnTo>
                  <a:pt x="1499661" y="0"/>
                </a:lnTo>
                <a:lnTo>
                  <a:pt x="1499661" y="382414"/>
                </a:lnTo>
                <a:lnTo>
                  <a:pt x="0" y="382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Google Shape;200;g3314d6a3a13_0_6">
            <a:extLst>
              <a:ext uri="{FF2B5EF4-FFF2-40B4-BE49-F238E27FC236}">
                <a16:creationId xmlns:a16="http://schemas.microsoft.com/office/drawing/2014/main" id="{353926BB-3931-A733-19DA-A97E5C33EB2E}"/>
              </a:ext>
            </a:extLst>
          </p:cNvPr>
          <p:cNvSpPr/>
          <p:nvPr/>
        </p:nvSpPr>
        <p:spPr>
          <a:xfrm rot="20711880">
            <a:off x="3529028" y="3993994"/>
            <a:ext cx="630407" cy="315203"/>
          </a:xfrm>
          <a:custGeom>
            <a:avLst/>
            <a:gdLst/>
            <a:ahLst/>
            <a:cxnLst/>
            <a:rect l="l" t="t" r="r" b="b"/>
            <a:pathLst>
              <a:path w="1263184" h="631592" extrusionOk="0">
                <a:moveTo>
                  <a:pt x="0" y="0"/>
                </a:moveTo>
                <a:lnTo>
                  <a:pt x="1263184" y="0"/>
                </a:lnTo>
                <a:lnTo>
                  <a:pt x="1263184" y="631592"/>
                </a:lnTo>
                <a:lnTo>
                  <a:pt x="0" y="631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Google Shape;201;g3314d6a3a13_0_6">
            <a:extLst>
              <a:ext uri="{FF2B5EF4-FFF2-40B4-BE49-F238E27FC236}">
                <a16:creationId xmlns:a16="http://schemas.microsoft.com/office/drawing/2014/main" id="{02A25574-FAFD-5CA4-BC04-AB2382729706}"/>
              </a:ext>
            </a:extLst>
          </p:cNvPr>
          <p:cNvSpPr/>
          <p:nvPr/>
        </p:nvSpPr>
        <p:spPr>
          <a:xfrm rot="20678667">
            <a:off x="6936297" y="4079770"/>
            <a:ext cx="632050" cy="316025"/>
          </a:xfrm>
          <a:custGeom>
            <a:avLst/>
            <a:gdLst/>
            <a:ahLst/>
            <a:cxnLst/>
            <a:rect l="l" t="t" r="r" b="b"/>
            <a:pathLst>
              <a:path w="1263184" h="631592" extrusionOk="0">
                <a:moveTo>
                  <a:pt x="0" y="0"/>
                </a:moveTo>
                <a:lnTo>
                  <a:pt x="1263184" y="0"/>
                </a:lnTo>
                <a:lnTo>
                  <a:pt x="1263184" y="631592"/>
                </a:lnTo>
                <a:lnTo>
                  <a:pt x="0" y="631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Google Shape;202;g3314d6a3a13_0_6">
            <a:extLst>
              <a:ext uri="{FF2B5EF4-FFF2-40B4-BE49-F238E27FC236}">
                <a16:creationId xmlns:a16="http://schemas.microsoft.com/office/drawing/2014/main" id="{A6701A85-2D09-2463-E052-906E78841D46}"/>
              </a:ext>
            </a:extLst>
          </p:cNvPr>
          <p:cNvSpPr txBox="1"/>
          <p:nvPr/>
        </p:nvSpPr>
        <p:spPr>
          <a:xfrm>
            <a:off x="152243" y="3186221"/>
            <a:ext cx="21130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>
                <a:solidFill>
                  <a:schemeClr val="dk2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Script Brittleness</a:t>
            </a:r>
            <a:endParaRPr sz="1500" dirty="0">
              <a:solidFill>
                <a:schemeClr val="dk2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16" name="Google Shape;203;g3314d6a3a13_0_6">
            <a:extLst>
              <a:ext uri="{FF2B5EF4-FFF2-40B4-BE49-F238E27FC236}">
                <a16:creationId xmlns:a16="http://schemas.microsoft.com/office/drawing/2014/main" id="{91C7EFE4-2A5A-D837-D3FC-0AA8E5955C07}"/>
              </a:ext>
            </a:extLst>
          </p:cNvPr>
          <p:cNvSpPr txBox="1"/>
          <p:nvPr/>
        </p:nvSpPr>
        <p:spPr>
          <a:xfrm>
            <a:off x="2324522" y="3158531"/>
            <a:ext cx="1404013" cy="9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>
                <a:solidFill>
                  <a:schemeClr val="dk2"/>
                </a:solidFill>
                <a:latin typeface="Nunito ExtraBold"/>
                <a:sym typeface="Nunito"/>
              </a:rPr>
              <a:t>Fragmented Toolchains</a:t>
            </a:r>
            <a:endParaRPr sz="1500" dirty="0">
              <a:solidFill>
                <a:schemeClr val="dk2"/>
              </a:solidFill>
              <a:latin typeface="Nunito ExtraBold"/>
              <a:sym typeface="Nunito"/>
            </a:endParaRPr>
          </a:p>
        </p:txBody>
      </p:sp>
      <p:sp>
        <p:nvSpPr>
          <p:cNvPr id="17" name="Google Shape;204;g3314d6a3a13_0_6">
            <a:extLst>
              <a:ext uri="{FF2B5EF4-FFF2-40B4-BE49-F238E27FC236}">
                <a16:creationId xmlns:a16="http://schemas.microsoft.com/office/drawing/2014/main" id="{B3B1888D-ED40-755D-52D4-38CDC8B9B71F}"/>
              </a:ext>
            </a:extLst>
          </p:cNvPr>
          <p:cNvSpPr txBox="1"/>
          <p:nvPr/>
        </p:nvSpPr>
        <p:spPr>
          <a:xfrm>
            <a:off x="3333814" y="3052855"/>
            <a:ext cx="22137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Weak Evidence Trail</a:t>
            </a:r>
            <a:endParaRPr sz="1600" b="1" dirty="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" name="Google Shape;205;g3314d6a3a13_0_6">
            <a:extLst>
              <a:ext uri="{FF2B5EF4-FFF2-40B4-BE49-F238E27FC236}">
                <a16:creationId xmlns:a16="http://schemas.microsoft.com/office/drawing/2014/main" id="{D8B3C103-A2A6-9FDF-6184-E9926296FF90}"/>
              </a:ext>
            </a:extLst>
          </p:cNvPr>
          <p:cNvSpPr txBox="1"/>
          <p:nvPr/>
        </p:nvSpPr>
        <p:spPr>
          <a:xfrm>
            <a:off x="5297944" y="3198355"/>
            <a:ext cx="18909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677992"/>
                </a:solidFill>
                <a:latin typeface="Nunito"/>
                <a:ea typeface="Nunito"/>
                <a:cs typeface="Nunito"/>
                <a:sym typeface="Nunito"/>
              </a:rPr>
              <a:t>No Ownership Routing</a:t>
            </a:r>
            <a:endParaRPr sz="1600" b="1" dirty="0">
              <a:solidFill>
                <a:srgbClr val="67799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" name="Google Shape;206;g3314d6a3a13_0_6">
            <a:extLst>
              <a:ext uri="{FF2B5EF4-FFF2-40B4-BE49-F238E27FC236}">
                <a16:creationId xmlns:a16="http://schemas.microsoft.com/office/drawing/2014/main" id="{664E7528-8883-DD18-7AE5-3FA1D6F8F9AA}"/>
              </a:ext>
            </a:extLst>
          </p:cNvPr>
          <p:cNvSpPr txBox="1"/>
          <p:nvPr/>
        </p:nvSpPr>
        <p:spPr>
          <a:xfrm>
            <a:off x="7120213" y="3034689"/>
            <a:ext cx="15891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Closed NL Platforms</a:t>
            </a:r>
            <a:endParaRPr sz="1800" b="1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" name="Google Shape;207;g3314d6a3a13_0_6">
            <a:extLst>
              <a:ext uri="{FF2B5EF4-FFF2-40B4-BE49-F238E27FC236}">
                <a16:creationId xmlns:a16="http://schemas.microsoft.com/office/drawing/2014/main" id="{CB2A8831-B779-140C-9856-D77CD27248F7}"/>
              </a:ext>
            </a:extLst>
          </p:cNvPr>
          <p:cNvSpPr txBox="1"/>
          <p:nvPr/>
        </p:nvSpPr>
        <p:spPr>
          <a:xfrm>
            <a:off x="223301" y="1515853"/>
            <a:ext cx="2577300" cy="1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UI scripts break when selectors/DOM change, causing high maintenance cost in Quality Engineering.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08;g3314d6a3a13_0_6">
            <a:extLst>
              <a:ext uri="{FF2B5EF4-FFF2-40B4-BE49-F238E27FC236}">
                <a16:creationId xmlns:a16="http://schemas.microsoft.com/office/drawing/2014/main" id="{8C6B18AD-8837-C79E-5BD8-F6FF222E83EF}"/>
              </a:ext>
            </a:extLst>
          </p:cNvPr>
          <p:cNvSpPr txBox="1"/>
          <p:nvPr/>
        </p:nvSpPr>
        <p:spPr>
          <a:xfrm>
            <a:off x="1904936" y="4748022"/>
            <a:ext cx="2410252" cy="17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3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Execution, reporting, and alerting are split across tools with no single agentic workflow.</a:t>
            </a:r>
            <a:endParaRPr sz="1300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09;g3314d6a3a13_0_6">
            <a:extLst>
              <a:ext uri="{FF2B5EF4-FFF2-40B4-BE49-F238E27FC236}">
                <a16:creationId xmlns:a16="http://schemas.microsoft.com/office/drawing/2014/main" id="{59CD29B1-5092-8B63-A3BB-3CBAF19C7111}"/>
              </a:ext>
            </a:extLst>
          </p:cNvPr>
          <p:cNvSpPr txBox="1"/>
          <p:nvPr/>
        </p:nvSpPr>
        <p:spPr>
          <a:xfrm>
            <a:off x="2983188" y="1457950"/>
            <a:ext cx="2984100" cy="9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runs lack structured step-level pass/fail documentation with screenshots as audit evidence.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10;g3314d6a3a13_0_6">
            <a:extLst>
              <a:ext uri="{FF2B5EF4-FFF2-40B4-BE49-F238E27FC236}">
                <a16:creationId xmlns:a16="http://schemas.microsoft.com/office/drawing/2014/main" id="{8715BD43-F279-8466-50E0-AD16CB0B6894}"/>
              </a:ext>
            </a:extLst>
          </p:cNvPr>
          <p:cNvSpPr txBox="1"/>
          <p:nvPr/>
        </p:nvSpPr>
        <p:spPr>
          <a:xfrm>
            <a:off x="4690950" y="4748022"/>
            <a:ext cx="2795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Failures are not automatically routed to the owning product team in a scrum-master style.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11;g3314d6a3a13_0_6">
            <a:extLst>
              <a:ext uri="{FF2B5EF4-FFF2-40B4-BE49-F238E27FC236}">
                <a16:creationId xmlns:a16="http://schemas.microsoft.com/office/drawing/2014/main" id="{1075B525-926B-7C40-D035-09A80F071428}"/>
              </a:ext>
            </a:extLst>
          </p:cNvPr>
          <p:cNvSpPr txBox="1"/>
          <p:nvPr/>
        </p:nvSpPr>
        <p:spPr>
          <a:xfrm>
            <a:off x="6149875" y="1564525"/>
            <a:ext cx="2989225" cy="10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Commercial NL testing exists, but open explainable academic prototypes for industry PS are limited.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7780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4BB34B4-E216-3145-BD56-0B1D1FBF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878FAE3B-FC01-FCB2-AB72-E27564B3B4D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28-07-2026</a:t>
            </a:r>
            <a:endParaRPr/>
          </a:p>
        </p:txBody>
      </p:sp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C36CDF49-F5E6-6BCA-CFE5-DFCE5AB3DCE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5A22F74-7B23-E4ED-D752-7D72E4511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7" name="Google Shape;357;p39">
            <a:extLst>
              <a:ext uri="{FF2B5EF4-FFF2-40B4-BE49-F238E27FC236}">
                <a16:creationId xmlns:a16="http://schemas.microsoft.com/office/drawing/2014/main" id="{4C63D174-4A60-A139-A937-3FD2D6747A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6690" y="6845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00000"/>
                </a:solidFill>
                <a:latin typeface="Times New Roman"/>
                <a:cs typeface="Times New Roman"/>
              </a:rPr>
              <a:t>Proposed Solution</a:t>
            </a:r>
            <a:endParaRPr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Google Shape;358;p39">
            <a:extLst>
              <a:ext uri="{FF2B5EF4-FFF2-40B4-BE49-F238E27FC236}">
                <a16:creationId xmlns:a16="http://schemas.microsoft.com/office/drawing/2014/main" id="{237F855A-A076-105B-0C06-761EBA4EADFC}"/>
              </a:ext>
            </a:extLst>
          </p:cNvPr>
          <p:cNvSpPr txBox="1">
            <a:spLocks/>
          </p:cNvSpPr>
          <p:nvPr/>
        </p:nvSpPr>
        <p:spPr>
          <a:xfrm>
            <a:off x="995857" y="2687040"/>
            <a:ext cx="2369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/>
              <a:t>Text-to-Action Execution</a:t>
            </a:r>
            <a:endParaRPr lang="en-IN" b="1" dirty="0"/>
          </a:p>
        </p:txBody>
      </p:sp>
      <p:sp>
        <p:nvSpPr>
          <p:cNvPr id="9" name="Google Shape;359;p39">
            <a:extLst>
              <a:ext uri="{FF2B5EF4-FFF2-40B4-BE49-F238E27FC236}">
                <a16:creationId xmlns:a16="http://schemas.microsoft.com/office/drawing/2014/main" id="{DD274932-A847-8BBA-854E-9AB6850758AF}"/>
              </a:ext>
            </a:extLst>
          </p:cNvPr>
          <p:cNvSpPr txBox="1">
            <a:spLocks/>
          </p:cNvSpPr>
          <p:nvPr/>
        </p:nvSpPr>
        <p:spPr>
          <a:xfrm>
            <a:off x="3551186" y="2658432"/>
            <a:ext cx="2369700" cy="5151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/>
              <a:t>Pass/Fail Documentation</a:t>
            </a:r>
            <a:endParaRPr lang="en-IN" b="1" dirty="0"/>
          </a:p>
        </p:txBody>
      </p:sp>
      <p:sp>
        <p:nvSpPr>
          <p:cNvPr id="10" name="Google Shape;360;p39">
            <a:extLst>
              <a:ext uri="{FF2B5EF4-FFF2-40B4-BE49-F238E27FC236}">
                <a16:creationId xmlns:a16="http://schemas.microsoft.com/office/drawing/2014/main" id="{F3E551AF-63B1-3853-DEE6-FA717F47CA90}"/>
              </a:ext>
            </a:extLst>
          </p:cNvPr>
          <p:cNvSpPr txBox="1">
            <a:spLocks/>
          </p:cNvSpPr>
          <p:nvPr/>
        </p:nvSpPr>
        <p:spPr>
          <a:xfrm>
            <a:off x="1010236" y="3590848"/>
            <a:ext cx="2407978" cy="279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Parse plain-text steps into a locked JSON action schema and execute them on a web app using Playwright.</a:t>
            </a:r>
          </a:p>
        </p:txBody>
      </p:sp>
      <p:sp>
        <p:nvSpPr>
          <p:cNvPr id="11" name="Google Shape;361;p39">
            <a:extLst>
              <a:ext uri="{FF2B5EF4-FFF2-40B4-BE49-F238E27FC236}">
                <a16:creationId xmlns:a16="http://schemas.microsoft.com/office/drawing/2014/main" id="{E3D64D0A-642E-D0C4-F49E-C9C73EF13DD1}"/>
              </a:ext>
            </a:extLst>
          </p:cNvPr>
          <p:cNvSpPr txBox="1">
            <a:spLocks/>
          </p:cNvSpPr>
          <p:nvPr/>
        </p:nvSpPr>
        <p:spPr>
          <a:xfrm>
            <a:off x="3551403" y="3551462"/>
            <a:ext cx="2369700" cy="2970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Produce step-level reports (status, expected vs actual, screenshots) so every run is auditable.</a:t>
            </a:r>
          </a:p>
        </p:txBody>
      </p:sp>
      <p:sp>
        <p:nvSpPr>
          <p:cNvPr id="12" name="Google Shape;362;p39">
            <a:extLst>
              <a:ext uri="{FF2B5EF4-FFF2-40B4-BE49-F238E27FC236}">
                <a16:creationId xmlns:a16="http://schemas.microsoft.com/office/drawing/2014/main" id="{7856F071-F1B8-0EB5-DAAB-916A49FE649F}"/>
              </a:ext>
            </a:extLst>
          </p:cNvPr>
          <p:cNvSpPr txBox="1">
            <a:spLocks/>
          </p:cNvSpPr>
          <p:nvPr/>
        </p:nvSpPr>
        <p:spPr>
          <a:xfrm>
            <a:off x="6054292" y="3544478"/>
            <a:ext cx="2461058" cy="33135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On failure, map module → owning team and raise an alert/ticket with failed-step context for fast triage.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Google Shape;363;p39">
            <a:extLst>
              <a:ext uri="{FF2B5EF4-FFF2-40B4-BE49-F238E27FC236}">
                <a16:creationId xmlns:a16="http://schemas.microsoft.com/office/drawing/2014/main" id="{14D75C63-26F0-69AF-7975-42CEBA9943BB}"/>
              </a:ext>
            </a:extLst>
          </p:cNvPr>
          <p:cNvSpPr txBox="1">
            <a:spLocks/>
          </p:cNvSpPr>
          <p:nvPr/>
        </p:nvSpPr>
        <p:spPr>
          <a:xfrm>
            <a:off x="6234604" y="3053728"/>
            <a:ext cx="2123860" cy="2989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b="1"/>
              <a:t>Scrum-Style Notify Agent</a:t>
            </a:r>
            <a:endParaRPr lang="en-IN" b="1" dirty="0"/>
          </a:p>
        </p:txBody>
      </p:sp>
      <p:sp>
        <p:nvSpPr>
          <p:cNvPr id="14" name="Google Shape;364;p39">
            <a:extLst>
              <a:ext uri="{FF2B5EF4-FFF2-40B4-BE49-F238E27FC236}">
                <a16:creationId xmlns:a16="http://schemas.microsoft.com/office/drawing/2014/main" id="{76619F4E-4A48-1940-B951-6AED65F7CFED}"/>
              </a:ext>
            </a:extLst>
          </p:cNvPr>
          <p:cNvSpPr/>
          <p:nvPr/>
        </p:nvSpPr>
        <p:spPr>
          <a:xfrm>
            <a:off x="1882794" y="1877798"/>
            <a:ext cx="5592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5" name="Google Shape;365;p39">
            <a:extLst>
              <a:ext uri="{FF2B5EF4-FFF2-40B4-BE49-F238E27FC236}">
                <a16:creationId xmlns:a16="http://schemas.microsoft.com/office/drawing/2014/main" id="{FDF96775-B212-9235-69E7-FE0D8E89457E}"/>
              </a:ext>
            </a:extLst>
          </p:cNvPr>
          <p:cNvSpPr/>
          <p:nvPr/>
        </p:nvSpPr>
        <p:spPr>
          <a:xfrm>
            <a:off x="4400944" y="1877856"/>
            <a:ext cx="5592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6" name="Google Shape;366;p39">
            <a:extLst>
              <a:ext uri="{FF2B5EF4-FFF2-40B4-BE49-F238E27FC236}">
                <a16:creationId xmlns:a16="http://schemas.microsoft.com/office/drawing/2014/main" id="{7DB0F520-4D55-F34E-A406-7778CD93DBAB}"/>
              </a:ext>
            </a:extLst>
          </p:cNvPr>
          <p:cNvSpPr/>
          <p:nvPr/>
        </p:nvSpPr>
        <p:spPr>
          <a:xfrm>
            <a:off x="6995269" y="1877856"/>
            <a:ext cx="5592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33" name="Google Shape;383;p39">
            <a:extLst>
              <a:ext uri="{FF2B5EF4-FFF2-40B4-BE49-F238E27FC236}">
                <a16:creationId xmlns:a16="http://schemas.microsoft.com/office/drawing/2014/main" id="{CD63891B-F636-94DE-6D75-D797A5CB869D}"/>
              </a:ext>
            </a:extLst>
          </p:cNvPr>
          <p:cNvGrpSpPr/>
          <p:nvPr/>
        </p:nvGrpSpPr>
        <p:grpSpPr>
          <a:xfrm>
            <a:off x="2023576" y="2009775"/>
            <a:ext cx="277751" cy="308860"/>
            <a:chOff x="720012" y="1557287"/>
            <a:chExt cx="340882" cy="379063"/>
          </a:xfrm>
        </p:grpSpPr>
        <p:sp>
          <p:nvSpPr>
            <p:cNvPr id="34" name="Google Shape;384;p39">
              <a:extLst>
                <a:ext uri="{FF2B5EF4-FFF2-40B4-BE49-F238E27FC236}">
                  <a16:creationId xmlns:a16="http://schemas.microsoft.com/office/drawing/2014/main" id="{92DFCA96-E628-3DD7-F320-1B848CCF0A32}"/>
                </a:ext>
              </a:extLst>
            </p:cNvPr>
            <p:cNvSpPr/>
            <p:nvPr/>
          </p:nvSpPr>
          <p:spPr>
            <a:xfrm>
              <a:off x="812705" y="1813821"/>
              <a:ext cx="156217" cy="66990"/>
            </a:xfrm>
            <a:custGeom>
              <a:avLst/>
              <a:gdLst/>
              <a:ahLst/>
              <a:cxnLst/>
              <a:rect l="l" t="t" r="r" b="b"/>
              <a:pathLst>
                <a:path w="5634" h="2416" extrusionOk="0">
                  <a:moveTo>
                    <a:pt x="1134" y="1"/>
                  </a:moveTo>
                  <a:lnTo>
                    <a:pt x="805" y="1615"/>
                  </a:lnTo>
                  <a:lnTo>
                    <a:pt x="0" y="1615"/>
                  </a:lnTo>
                  <a:lnTo>
                    <a:pt x="0" y="2416"/>
                  </a:lnTo>
                  <a:lnTo>
                    <a:pt x="5634" y="2416"/>
                  </a:lnTo>
                  <a:lnTo>
                    <a:pt x="5634" y="1615"/>
                  </a:lnTo>
                  <a:lnTo>
                    <a:pt x="4829" y="1615"/>
                  </a:lnTo>
                  <a:lnTo>
                    <a:pt x="4502" y="1"/>
                  </a:lnTo>
                  <a:cubicBezTo>
                    <a:pt x="3973" y="276"/>
                    <a:pt x="3396" y="414"/>
                    <a:pt x="2818" y="414"/>
                  </a:cubicBezTo>
                  <a:cubicBezTo>
                    <a:pt x="2240" y="414"/>
                    <a:pt x="1662" y="276"/>
                    <a:pt x="1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85;p39">
              <a:extLst>
                <a:ext uri="{FF2B5EF4-FFF2-40B4-BE49-F238E27FC236}">
                  <a16:creationId xmlns:a16="http://schemas.microsoft.com/office/drawing/2014/main" id="{9A7F4043-86D5-5719-B01B-B47A8E31AA64}"/>
                </a:ext>
              </a:extLst>
            </p:cNvPr>
            <p:cNvSpPr/>
            <p:nvPr/>
          </p:nvSpPr>
          <p:spPr>
            <a:xfrm>
              <a:off x="779487" y="1902993"/>
              <a:ext cx="222097" cy="33356"/>
            </a:xfrm>
            <a:custGeom>
              <a:avLst/>
              <a:gdLst/>
              <a:ahLst/>
              <a:cxnLst/>
              <a:rect l="l" t="t" r="r" b="b"/>
              <a:pathLst>
                <a:path w="8010" h="1203" extrusionOk="0">
                  <a:moveTo>
                    <a:pt x="401" y="0"/>
                  </a:moveTo>
                  <a:lnTo>
                    <a:pt x="0" y="1202"/>
                  </a:lnTo>
                  <a:lnTo>
                    <a:pt x="8009" y="1202"/>
                  </a:lnTo>
                  <a:lnTo>
                    <a:pt x="76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86;p39">
              <a:extLst>
                <a:ext uri="{FF2B5EF4-FFF2-40B4-BE49-F238E27FC236}">
                  <a16:creationId xmlns:a16="http://schemas.microsoft.com/office/drawing/2014/main" id="{362DF50E-CD85-03A1-AA9D-8A4AE3831BCC}"/>
                </a:ext>
              </a:extLst>
            </p:cNvPr>
            <p:cNvSpPr/>
            <p:nvPr/>
          </p:nvSpPr>
          <p:spPr>
            <a:xfrm>
              <a:off x="868243" y="1668779"/>
              <a:ext cx="44614" cy="44614"/>
            </a:xfrm>
            <a:custGeom>
              <a:avLst/>
              <a:gdLst/>
              <a:ahLst/>
              <a:cxnLst/>
              <a:rect l="l" t="t" r="r" b="b"/>
              <a:pathLst>
                <a:path w="1609" h="1609" extrusionOk="0">
                  <a:moveTo>
                    <a:pt x="804" y="0"/>
                  </a:moveTo>
                  <a:cubicBezTo>
                    <a:pt x="360" y="0"/>
                    <a:pt x="0" y="361"/>
                    <a:pt x="0" y="804"/>
                  </a:cubicBezTo>
                  <a:cubicBezTo>
                    <a:pt x="0" y="1248"/>
                    <a:pt x="360" y="1609"/>
                    <a:pt x="804" y="1609"/>
                  </a:cubicBezTo>
                  <a:cubicBezTo>
                    <a:pt x="1248" y="1609"/>
                    <a:pt x="1609" y="1248"/>
                    <a:pt x="1609" y="804"/>
                  </a:cubicBezTo>
                  <a:cubicBezTo>
                    <a:pt x="1609" y="361"/>
                    <a:pt x="1248" y="0"/>
                    <a:pt x="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87;p39">
              <a:extLst>
                <a:ext uri="{FF2B5EF4-FFF2-40B4-BE49-F238E27FC236}">
                  <a16:creationId xmlns:a16="http://schemas.microsoft.com/office/drawing/2014/main" id="{BB4179B9-EC77-AFA6-3A9D-A4157B9C052F}"/>
                </a:ext>
              </a:extLst>
            </p:cNvPr>
            <p:cNvSpPr/>
            <p:nvPr/>
          </p:nvSpPr>
          <p:spPr>
            <a:xfrm>
              <a:off x="790495" y="1623916"/>
              <a:ext cx="200636" cy="178399"/>
            </a:xfrm>
            <a:custGeom>
              <a:avLst/>
              <a:gdLst/>
              <a:ahLst/>
              <a:cxnLst/>
              <a:rect l="l" t="t" r="r" b="b"/>
              <a:pathLst>
                <a:path w="7236" h="6434" extrusionOk="0">
                  <a:moveTo>
                    <a:pt x="3608" y="815"/>
                  </a:moveTo>
                  <a:cubicBezTo>
                    <a:pt x="4495" y="815"/>
                    <a:pt x="5216" y="1536"/>
                    <a:pt x="5216" y="2423"/>
                  </a:cubicBezTo>
                  <a:cubicBezTo>
                    <a:pt x="5216" y="3310"/>
                    <a:pt x="4495" y="4030"/>
                    <a:pt x="3608" y="4030"/>
                  </a:cubicBezTo>
                  <a:cubicBezTo>
                    <a:pt x="2721" y="4030"/>
                    <a:pt x="1999" y="3310"/>
                    <a:pt x="1999" y="2423"/>
                  </a:cubicBezTo>
                  <a:cubicBezTo>
                    <a:pt x="1999" y="1536"/>
                    <a:pt x="2721" y="815"/>
                    <a:pt x="3608" y="815"/>
                  </a:cubicBezTo>
                  <a:close/>
                  <a:moveTo>
                    <a:pt x="1" y="1"/>
                  </a:moveTo>
                  <a:lnTo>
                    <a:pt x="1" y="2815"/>
                  </a:lnTo>
                  <a:cubicBezTo>
                    <a:pt x="1" y="4817"/>
                    <a:pt x="1624" y="6433"/>
                    <a:pt x="3618" y="6433"/>
                  </a:cubicBezTo>
                  <a:cubicBezTo>
                    <a:pt x="5614" y="6433"/>
                    <a:pt x="7235" y="4815"/>
                    <a:pt x="7235" y="2815"/>
                  </a:cubicBezTo>
                  <a:lnTo>
                    <a:pt x="72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8;p39">
              <a:extLst>
                <a:ext uri="{FF2B5EF4-FFF2-40B4-BE49-F238E27FC236}">
                  <a16:creationId xmlns:a16="http://schemas.microsoft.com/office/drawing/2014/main" id="{0175060C-947F-252D-BC78-469C13B4BDED}"/>
                </a:ext>
              </a:extLst>
            </p:cNvPr>
            <p:cNvSpPr/>
            <p:nvPr/>
          </p:nvSpPr>
          <p:spPr>
            <a:xfrm>
              <a:off x="790495" y="1557287"/>
              <a:ext cx="200636" cy="44475"/>
            </a:xfrm>
            <a:custGeom>
              <a:avLst/>
              <a:gdLst/>
              <a:ahLst/>
              <a:cxnLst/>
              <a:rect l="l" t="t" r="r" b="b"/>
              <a:pathLst>
                <a:path w="7236" h="1604" extrusionOk="0">
                  <a:moveTo>
                    <a:pt x="1" y="1"/>
                  </a:moveTo>
                  <a:lnTo>
                    <a:pt x="1" y="1603"/>
                  </a:lnTo>
                  <a:lnTo>
                    <a:pt x="7235" y="1603"/>
                  </a:lnTo>
                  <a:cubicBezTo>
                    <a:pt x="7235" y="1127"/>
                    <a:pt x="7235" y="487"/>
                    <a:pt x="7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89;p39">
              <a:extLst>
                <a:ext uri="{FF2B5EF4-FFF2-40B4-BE49-F238E27FC236}">
                  <a16:creationId xmlns:a16="http://schemas.microsoft.com/office/drawing/2014/main" id="{5E60784C-C00F-DDA0-ABFC-4C155CDB1E9C}"/>
                </a:ext>
              </a:extLst>
            </p:cNvPr>
            <p:cNvSpPr/>
            <p:nvPr/>
          </p:nvSpPr>
          <p:spPr>
            <a:xfrm>
              <a:off x="1013341" y="1579496"/>
              <a:ext cx="47553" cy="117925"/>
            </a:xfrm>
            <a:custGeom>
              <a:avLst/>
              <a:gdLst/>
              <a:ahLst/>
              <a:cxnLst/>
              <a:rect l="l" t="t" r="r" b="b"/>
              <a:pathLst>
                <a:path w="1715" h="4253" extrusionOk="0">
                  <a:moveTo>
                    <a:pt x="1714" y="0"/>
                  </a:moveTo>
                  <a:lnTo>
                    <a:pt x="0" y="2"/>
                  </a:lnTo>
                  <a:lnTo>
                    <a:pt x="0" y="802"/>
                  </a:lnTo>
                  <a:lnTo>
                    <a:pt x="689" y="802"/>
                  </a:lnTo>
                  <a:lnTo>
                    <a:pt x="56" y="3330"/>
                  </a:lnTo>
                  <a:lnTo>
                    <a:pt x="0" y="3357"/>
                  </a:lnTo>
                  <a:lnTo>
                    <a:pt x="0" y="4253"/>
                  </a:lnTo>
                  <a:lnTo>
                    <a:pt x="744" y="3880"/>
                  </a:lnTo>
                  <a:lnTo>
                    <a:pt x="17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0;p39">
              <a:extLst>
                <a:ext uri="{FF2B5EF4-FFF2-40B4-BE49-F238E27FC236}">
                  <a16:creationId xmlns:a16="http://schemas.microsoft.com/office/drawing/2014/main" id="{2A0C43A5-27EC-6D77-57BB-1E58E69785B4}"/>
                </a:ext>
              </a:extLst>
            </p:cNvPr>
            <p:cNvSpPr/>
            <p:nvPr/>
          </p:nvSpPr>
          <p:spPr>
            <a:xfrm>
              <a:off x="720012" y="1579524"/>
              <a:ext cx="47580" cy="117897"/>
            </a:xfrm>
            <a:custGeom>
              <a:avLst/>
              <a:gdLst/>
              <a:ahLst/>
              <a:cxnLst/>
              <a:rect l="l" t="t" r="r" b="b"/>
              <a:pathLst>
                <a:path w="1716" h="4252" extrusionOk="0">
                  <a:moveTo>
                    <a:pt x="1" y="1"/>
                  </a:moveTo>
                  <a:lnTo>
                    <a:pt x="971" y="3879"/>
                  </a:lnTo>
                  <a:lnTo>
                    <a:pt x="1716" y="4252"/>
                  </a:lnTo>
                  <a:lnTo>
                    <a:pt x="1716" y="3356"/>
                  </a:lnTo>
                  <a:lnTo>
                    <a:pt x="1659" y="3329"/>
                  </a:lnTo>
                  <a:lnTo>
                    <a:pt x="1026" y="801"/>
                  </a:lnTo>
                  <a:lnTo>
                    <a:pt x="1716" y="801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31;p42">
            <a:extLst>
              <a:ext uri="{FF2B5EF4-FFF2-40B4-BE49-F238E27FC236}">
                <a16:creationId xmlns:a16="http://schemas.microsoft.com/office/drawing/2014/main" id="{A6B08D63-11E4-CEE4-3878-09FF6A108625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42" name="Google Shape;432;p42">
              <a:extLst>
                <a:ext uri="{FF2B5EF4-FFF2-40B4-BE49-F238E27FC236}">
                  <a16:creationId xmlns:a16="http://schemas.microsoft.com/office/drawing/2014/main" id="{2C74B93C-E1B6-C71A-C4E3-3F0002DACC05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433;p42">
              <a:extLst>
                <a:ext uri="{FF2B5EF4-FFF2-40B4-BE49-F238E27FC236}">
                  <a16:creationId xmlns:a16="http://schemas.microsoft.com/office/drawing/2014/main" id="{2EAB8818-C3D0-F507-4FB5-EA53211A0BA0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" name="Google Shape;434;p42">
              <a:extLst>
                <a:ext uri="{FF2B5EF4-FFF2-40B4-BE49-F238E27FC236}">
                  <a16:creationId xmlns:a16="http://schemas.microsoft.com/office/drawing/2014/main" id="{3A40084B-25BE-1D39-2360-C5E412B12620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" name="Google Shape;435;p42">
              <a:extLst>
                <a:ext uri="{FF2B5EF4-FFF2-40B4-BE49-F238E27FC236}">
                  <a16:creationId xmlns:a16="http://schemas.microsoft.com/office/drawing/2014/main" id="{06339D71-427A-C145-5CD6-F064DB586205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" name="Google Shape;436;p42">
              <a:extLst>
                <a:ext uri="{FF2B5EF4-FFF2-40B4-BE49-F238E27FC236}">
                  <a16:creationId xmlns:a16="http://schemas.microsoft.com/office/drawing/2014/main" id="{711368A9-6F7E-F2BB-DD72-B908647DA7CA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" name="Google Shape;437;p42">
              <a:extLst>
                <a:ext uri="{FF2B5EF4-FFF2-40B4-BE49-F238E27FC236}">
                  <a16:creationId xmlns:a16="http://schemas.microsoft.com/office/drawing/2014/main" id="{7E209883-6749-1E8F-F472-B17ECD32B813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" name="Google Shape;438;p42">
              <a:extLst>
                <a:ext uri="{FF2B5EF4-FFF2-40B4-BE49-F238E27FC236}">
                  <a16:creationId xmlns:a16="http://schemas.microsoft.com/office/drawing/2014/main" id="{58EAE9DC-2037-97A4-0273-40C05E052CFE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9" name="Google Shape;431;p42">
            <a:extLst>
              <a:ext uri="{FF2B5EF4-FFF2-40B4-BE49-F238E27FC236}">
                <a16:creationId xmlns:a16="http://schemas.microsoft.com/office/drawing/2014/main" id="{B6F5F704-E04C-D658-9153-2FFCDDB5FADE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50" name="Google Shape;432;p42">
              <a:extLst>
                <a:ext uri="{FF2B5EF4-FFF2-40B4-BE49-F238E27FC236}">
                  <a16:creationId xmlns:a16="http://schemas.microsoft.com/office/drawing/2014/main" id="{C100A47A-EABB-EE2F-0FAA-9AA3E09A6B63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433;p42">
              <a:extLst>
                <a:ext uri="{FF2B5EF4-FFF2-40B4-BE49-F238E27FC236}">
                  <a16:creationId xmlns:a16="http://schemas.microsoft.com/office/drawing/2014/main" id="{F4F762F5-BF68-1ED1-B72F-C2FF9B579496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434;p42">
              <a:extLst>
                <a:ext uri="{FF2B5EF4-FFF2-40B4-BE49-F238E27FC236}">
                  <a16:creationId xmlns:a16="http://schemas.microsoft.com/office/drawing/2014/main" id="{DA363811-CEA6-3554-30DC-DB1D14CE3450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" name="Google Shape;435;p42">
              <a:extLst>
                <a:ext uri="{FF2B5EF4-FFF2-40B4-BE49-F238E27FC236}">
                  <a16:creationId xmlns:a16="http://schemas.microsoft.com/office/drawing/2014/main" id="{602EAC1C-6CA7-E055-CD24-CBD105827201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" name="Google Shape;436;p42">
              <a:extLst>
                <a:ext uri="{FF2B5EF4-FFF2-40B4-BE49-F238E27FC236}">
                  <a16:creationId xmlns:a16="http://schemas.microsoft.com/office/drawing/2014/main" id="{700CD073-BE14-B2D6-A729-CFF6A128FE16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" name="Google Shape;437;p42">
              <a:extLst>
                <a:ext uri="{FF2B5EF4-FFF2-40B4-BE49-F238E27FC236}">
                  <a16:creationId xmlns:a16="http://schemas.microsoft.com/office/drawing/2014/main" id="{C73608CB-2AF0-5CD6-2A43-E2435FE8ACB5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" name="Google Shape;438;p42">
              <a:extLst>
                <a:ext uri="{FF2B5EF4-FFF2-40B4-BE49-F238E27FC236}">
                  <a16:creationId xmlns:a16="http://schemas.microsoft.com/office/drawing/2014/main" id="{292F647D-F4C7-8B9B-C99A-E8E5213372D6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1" name="Google Shape;7814;p72">
            <a:extLst>
              <a:ext uri="{FF2B5EF4-FFF2-40B4-BE49-F238E27FC236}">
                <a16:creationId xmlns:a16="http://schemas.microsoft.com/office/drawing/2014/main" id="{D1A88703-6517-4702-C9E4-24E29AE1F8A3}"/>
              </a:ext>
            </a:extLst>
          </p:cNvPr>
          <p:cNvGrpSpPr/>
          <p:nvPr/>
        </p:nvGrpSpPr>
        <p:grpSpPr>
          <a:xfrm>
            <a:off x="4453476" y="1955813"/>
            <a:ext cx="454135" cy="425796"/>
            <a:chOff x="-4478975" y="3251700"/>
            <a:chExt cx="293825" cy="293800"/>
          </a:xfrm>
          <a:solidFill>
            <a:schemeClr val="bg1"/>
          </a:solidFill>
        </p:grpSpPr>
        <p:sp>
          <p:nvSpPr>
            <p:cNvPr id="62" name="Google Shape;7815;p72">
              <a:extLst>
                <a:ext uri="{FF2B5EF4-FFF2-40B4-BE49-F238E27FC236}">
                  <a16:creationId xmlns:a16="http://schemas.microsoft.com/office/drawing/2014/main" id="{787BC551-DF5E-382F-6855-240FE755CF59}"/>
                </a:ext>
              </a:extLst>
            </p:cNvPr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816;p72">
              <a:extLst>
                <a:ext uri="{FF2B5EF4-FFF2-40B4-BE49-F238E27FC236}">
                  <a16:creationId xmlns:a16="http://schemas.microsoft.com/office/drawing/2014/main" id="{D0911E7A-A709-F68E-BADF-A136262B828D}"/>
                </a:ext>
              </a:extLst>
            </p:cNvPr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7817;p72">
              <a:extLst>
                <a:ext uri="{FF2B5EF4-FFF2-40B4-BE49-F238E27FC236}">
                  <a16:creationId xmlns:a16="http://schemas.microsoft.com/office/drawing/2014/main" id="{50B8311B-5981-30D9-E77E-F137903B54D4}"/>
                </a:ext>
              </a:extLst>
            </p:cNvPr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7758;p72">
            <a:extLst>
              <a:ext uri="{FF2B5EF4-FFF2-40B4-BE49-F238E27FC236}">
                <a16:creationId xmlns:a16="http://schemas.microsoft.com/office/drawing/2014/main" id="{098C1405-09E7-B21D-045A-BC4EE166512B}"/>
              </a:ext>
            </a:extLst>
          </p:cNvPr>
          <p:cNvGrpSpPr/>
          <p:nvPr/>
        </p:nvGrpSpPr>
        <p:grpSpPr>
          <a:xfrm>
            <a:off x="7071964" y="1950062"/>
            <a:ext cx="421927" cy="419371"/>
            <a:chOff x="-6689825" y="3992050"/>
            <a:chExt cx="293025" cy="291250"/>
          </a:xfrm>
          <a:solidFill>
            <a:schemeClr val="lt1"/>
          </a:solidFill>
        </p:grpSpPr>
        <p:sp>
          <p:nvSpPr>
            <p:cNvPr id="66" name="Google Shape;7759;p72">
              <a:extLst>
                <a:ext uri="{FF2B5EF4-FFF2-40B4-BE49-F238E27FC236}">
                  <a16:creationId xmlns:a16="http://schemas.microsoft.com/office/drawing/2014/main" id="{28D1F012-5E48-10AA-78DE-69D4ACD4C068}"/>
                </a:ext>
              </a:extLst>
            </p:cNvPr>
            <p:cNvSpPr/>
            <p:nvPr/>
          </p:nvSpPr>
          <p:spPr>
            <a:xfrm>
              <a:off x="-6547275" y="3992050"/>
              <a:ext cx="30750" cy="65400"/>
            </a:xfrm>
            <a:custGeom>
              <a:avLst/>
              <a:gdLst/>
              <a:ahLst/>
              <a:cxnLst/>
              <a:rect l="l" t="t" r="r" b="b"/>
              <a:pathLst>
                <a:path w="1230" h="2616" extrusionOk="0">
                  <a:moveTo>
                    <a:pt x="1229" y="1"/>
                  </a:moveTo>
                  <a:cubicBezTo>
                    <a:pt x="757" y="379"/>
                    <a:pt x="284" y="1355"/>
                    <a:pt x="1" y="2616"/>
                  </a:cubicBezTo>
                  <a:lnTo>
                    <a:pt x="1229" y="2616"/>
                  </a:lnTo>
                  <a:lnTo>
                    <a:pt x="12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7760;p72">
              <a:extLst>
                <a:ext uri="{FF2B5EF4-FFF2-40B4-BE49-F238E27FC236}">
                  <a16:creationId xmlns:a16="http://schemas.microsoft.com/office/drawing/2014/main" id="{0197031D-A9E7-F0A0-72BE-B5EB0346F687}"/>
                </a:ext>
              </a:extLst>
            </p:cNvPr>
            <p:cNvSpPr/>
            <p:nvPr/>
          </p:nvSpPr>
          <p:spPr>
            <a:xfrm>
              <a:off x="-6547275" y="4143275"/>
              <a:ext cx="30750" cy="64600"/>
            </a:xfrm>
            <a:custGeom>
              <a:avLst/>
              <a:gdLst/>
              <a:ahLst/>
              <a:cxnLst/>
              <a:rect l="l" t="t" r="r" b="b"/>
              <a:pathLst>
                <a:path w="1230" h="2584" extrusionOk="0">
                  <a:moveTo>
                    <a:pt x="1" y="1"/>
                  </a:moveTo>
                  <a:cubicBezTo>
                    <a:pt x="284" y="1261"/>
                    <a:pt x="757" y="2237"/>
                    <a:pt x="1229" y="2584"/>
                  </a:cubicBezTo>
                  <a:lnTo>
                    <a:pt x="12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7761;p72">
              <a:extLst>
                <a:ext uri="{FF2B5EF4-FFF2-40B4-BE49-F238E27FC236}">
                  <a16:creationId xmlns:a16="http://schemas.microsoft.com/office/drawing/2014/main" id="{901F78DB-8123-5ADB-8B4B-35FE7BB5F949}"/>
                </a:ext>
              </a:extLst>
            </p:cNvPr>
            <p:cNvSpPr/>
            <p:nvPr/>
          </p:nvSpPr>
          <p:spPr>
            <a:xfrm>
              <a:off x="-6551200" y="4073975"/>
              <a:ext cx="34675" cy="51200"/>
            </a:xfrm>
            <a:custGeom>
              <a:avLst/>
              <a:gdLst/>
              <a:ahLst/>
              <a:cxnLst/>
              <a:rect l="l" t="t" r="r" b="b"/>
              <a:pathLst>
                <a:path w="1387" h="2048" extrusionOk="0">
                  <a:moveTo>
                    <a:pt x="63" y="0"/>
                  </a:moveTo>
                  <a:cubicBezTo>
                    <a:pt x="0" y="725"/>
                    <a:pt x="0" y="1355"/>
                    <a:pt x="63" y="2048"/>
                  </a:cubicBezTo>
                  <a:lnTo>
                    <a:pt x="1386" y="2048"/>
                  </a:lnTo>
                  <a:lnTo>
                    <a:pt x="13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7762;p72">
              <a:extLst>
                <a:ext uri="{FF2B5EF4-FFF2-40B4-BE49-F238E27FC236}">
                  <a16:creationId xmlns:a16="http://schemas.microsoft.com/office/drawing/2014/main" id="{94B1135E-1855-BF02-379B-67ECF405C8C7}"/>
                </a:ext>
              </a:extLst>
            </p:cNvPr>
            <p:cNvSpPr/>
            <p:nvPr/>
          </p:nvSpPr>
          <p:spPr>
            <a:xfrm>
              <a:off x="-6475600" y="3994425"/>
              <a:ext cx="70125" cy="63025"/>
            </a:xfrm>
            <a:custGeom>
              <a:avLst/>
              <a:gdLst/>
              <a:ahLst/>
              <a:cxnLst/>
              <a:rect l="l" t="t" r="r" b="b"/>
              <a:pathLst>
                <a:path w="2805" h="2521" extrusionOk="0">
                  <a:moveTo>
                    <a:pt x="1" y="0"/>
                  </a:moveTo>
                  <a:cubicBezTo>
                    <a:pt x="442" y="630"/>
                    <a:pt x="757" y="1512"/>
                    <a:pt x="946" y="2521"/>
                  </a:cubicBezTo>
                  <a:lnTo>
                    <a:pt x="2805" y="2521"/>
                  </a:lnTo>
                  <a:cubicBezTo>
                    <a:pt x="2301" y="1292"/>
                    <a:pt x="1261" y="347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763;p72">
              <a:extLst>
                <a:ext uri="{FF2B5EF4-FFF2-40B4-BE49-F238E27FC236}">
                  <a16:creationId xmlns:a16="http://schemas.microsoft.com/office/drawing/2014/main" id="{90A8F20D-DC96-EDA3-B9DD-D8E1BC41B4CA}"/>
                </a:ext>
              </a:extLst>
            </p:cNvPr>
            <p:cNvSpPr/>
            <p:nvPr/>
          </p:nvSpPr>
          <p:spPr>
            <a:xfrm>
              <a:off x="-6449600" y="4073975"/>
              <a:ext cx="52800" cy="51200"/>
            </a:xfrm>
            <a:custGeom>
              <a:avLst/>
              <a:gdLst/>
              <a:ahLst/>
              <a:cxnLst/>
              <a:rect l="l" t="t" r="r" b="b"/>
              <a:pathLst>
                <a:path w="2112" h="2048" extrusionOk="0">
                  <a:moveTo>
                    <a:pt x="0" y="0"/>
                  </a:moveTo>
                  <a:cubicBezTo>
                    <a:pt x="63" y="725"/>
                    <a:pt x="63" y="1355"/>
                    <a:pt x="0" y="2048"/>
                  </a:cubicBezTo>
                  <a:lnTo>
                    <a:pt x="1954" y="2048"/>
                  </a:lnTo>
                  <a:cubicBezTo>
                    <a:pt x="2048" y="1733"/>
                    <a:pt x="2080" y="1386"/>
                    <a:pt x="2080" y="1040"/>
                  </a:cubicBezTo>
                  <a:cubicBezTo>
                    <a:pt x="2111" y="662"/>
                    <a:pt x="2048" y="347"/>
                    <a:pt x="19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764;p72">
              <a:extLst>
                <a:ext uri="{FF2B5EF4-FFF2-40B4-BE49-F238E27FC236}">
                  <a16:creationId xmlns:a16="http://schemas.microsoft.com/office/drawing/2014/main" id="{8DAD90FC-F4FD-619A-D56A-EDAE02B06F8D}"/>
                </a:ext>
              </a:extLst>
            </p:cNvPr>
            <p:cNvSpPr/>
            <p:nvPr/>
          </p:nvSpPr>
          <p:spPr>
            <a:xfrm>
              <a:off x="-6500000" y="3992050"/>
              <a:ext cx="30725" cy="65400"/>
            </a:xfrm>
            <a:custGeom>
              <a:avLst/>
              <a:gdLst/>
              <a:ahLst/>
              <a:cxnLst/>
              <a:rect l="l" t="t" r="r" b="b"/>
              <a:pathLst>
                <a:path w="122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229" y="2616"/>
                  </a:lnTo>
                  <a:cubicBezTo>
                    <a:pt x="977" y="1355"/>
                    <a:pt x="473" y="379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765;p72">
              <a:extLst>
                <a:ext uri="{FF2B5EF4-FFF2-40B4-BE49-F238E27FC236}">
                  <a16:creationId xmlns:a16="http://schemas.microsoft.com/office/drawing/2014/main" id="{6AF3E0E0-D12E-5947-BED9-125AB862AA17}"/>
                </a:ext>
              </a:extLst>
            </p:cNvPr>
            <p:cNvSpPr/>
            <p:nvPr/>
          </p:nvSpPr>
          <p:spPr>
            <a:xfrm>
              <a:off x="-6500000" y="4143275"/>
              <a:ext cx="30725" cy="64600"/>
            </a:xfrm>
            <a:custGeom>
              <a:avLst/>
              <a:gdLst/>
              <a:ahLst/>
              <a:cxnLst/>
              <a:rect l="l" t="t" r="r" b="b"/>
              <a:pathLst>
                <a:path w="1229" h="2584" extrusionOk="0">
                  <a:moveTo>
                    <a:pt x="0" y="1"/>
                  </a:moveTo>
                  <a:lnTo>
                    <a:pt x="0" y="2584"/>
                  </a:lnTo>
                  <a:cubicBezTo>
                    <a:pt x="473" y="2237"/>
                    <a:pt x="945" y="126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766;p72">
              <a:extLst>
                <a:ext uri="{FF2B5EF4-FFF2-40B4-BE49-F238E27FC236}">
                  <a16:creationId xmlns:a16="http://schemas.microsoft.com/office/drawing/2014/main" id="{05C7365C-1022-4B68-CA2D-089D200B8FAE}"/>
                </a:ext>
              </a:extLst>
            </p:cNvPr>
            <p:cNvSpPr/>
            <p:nvPr/>
          </p:nvSpPr>
          <p:spPr>
            <a:xfrm>
              <a:off x="-6689825" y="4141700"/>
              <a:ext cx="149675" cy="141600"/>
            </a:xfrm>
            <a:custGeom>
              <a:avLst/>
              <a:gdLst/>
              <a:ahLst/>
              <a:cxnLst/>
              <a:rect l="l" t="t" r="r" b="b"/>
              <a:pathLst>
                <a:path w="5987" h="5664" extrusionOk="0">
                  <a:moveTo>
                    <a:pt x="3182" y="1"/>
                  </a:moveTo>
                  <a:cubicBezTo>
                    <a:pt x="3371" y="442"/>
                    <a:pt x="3623" y="851"/>
                    <a:pt x="3938" y="1198"/>
                  </a:cubicBezTo>
                  <a:lnTo>
                    <a:pt x="3088" y="2017"/>
                  </a:lnTo>
                  <a:cubicBezTo>
                    <a:pt x="2946" y="1946"/>
                    <a:pt x="2791" y="1911"/>
                    <a:pt x="2638" y="1911"/>
                  </a:cubicBezTo>
                  <a:cubicBezTo>
                    <a:pt x="2382" y="1911"/>
                    <a:pt x="2131" y="2009"/>
                    <a:pt x="1954" y="2206"/>
                  </a:cubicBezTo>
                  <a:lnTo>
                    <a:pt x="378" y="3907"/>
                  </a:lnTo>
                  <a:cubicBezTo>
                    <a:pt x="0" y="4317"/>
                    <a:pt x="0" y="4978"/>
                    <a:pt x="378" y="5356"/>
                  </a:cubicBezTo>
                  <a:cubicBezTo>
                    <a:pt x="583" y="5561"/>
                    <a:pt x="851" y="5664"/>
                    <a:pt x="1115" y="5664"/>
                  </a:cubicBezTo>
                  <a:cubicBezTo>
                    <a:pt x="1379" y="5664"/>
                    <a:pt x="1639" y="5561"/>
                    <a:pt x="1828" y="5356"/>
                  </a:cubicBezTo>
                  <a:lnTo>
                    <a:pt x="3403" y="3687"/>
                  </a:lnTo>
                  <a:cubicBezTo>
                    <a:pt x="3718" y="3372"/>
                    <a:pt x="3781" y="2899"/>
                    <a:pt x="3623" y="2521"/>
                  </a:cubicBezTo>
                  <a:lnTo>
                    <a:pt x="4443" y="1702"/>
                  </a:lnTo>
                  <a:cubicBezTo>
                    <a:pt x="4821" y="2111"/>
                    <a:pt x="5388" y="2426"/>
                    <a:pt x="5986" y="2584"/>
                  </a:cubicBezTo>
                  <a:cubicBezTo>
                    <a:pt x="5545" y="1954"/>
                    <a:pt x="5230" y="1040"/>
                    <a:pt x="50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767;p72">
              <a:extLst>
                <a:ext uri="{FF2B5EF4-FFF2-40B4-BE49-F238E27FC236}">
                  <a16:creationId xmlns:a16="http://schemas.microsoft.com/office/drawing/2014/main" id="{8AF24F7E-BB82-0E68-39E7-B6BF0C3C50A8}"/>
                </a:ext>
              </a:extLst>
            </p:cNvPr>
            <p:cNvSpPr/>
            <p:nvPr/>
          </p:nvSpPr>
          <p:spPr>
            <a:xfrm>
              <a:off x="-6475600" y="4141700"/>
              <a:ext cx="70125" cy="64600"/>
            </a:xfrm>
            <a:custGeom>
              <a:avLst/>
              <a:gdLst/>
              <a:ahLst/>
              <a:cxnLst/>
              <a:rect l="l" t="t" r="r" b="b"/>
              <a:pathLst>
                <a:path w="2805" h="2584" extrusionOk="0">
                  <a:moveTo>
                    <a:pt x="946" y="1"/>
                  </a:moveTo>
                  <a:cubicBezTo>
                    <a:pt x="757" y="1040"/>
                    <a:pt x="442" y="1954"/>
                    <a:pt x="1" y="2584"/>
                  </a:cubicBezTo>
                  <a:cubicBezTo>
                    <a:pt x="1261" y="2174"/>
                    <a:pt x="2301" y="1229"/>
                    <a:pt x="2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768;p72">
              <a:extLst>
                <a:ext uri="{FF2B5EF4-FFF2-40B4-BE49-F238E27FC236}">
                  <a16:creationId xmlns:a16="http://schemas.microsoft.com/office/drawing/2014/main" id="{B04D141E-E652-AB86-12FB-9110F652640F}"/>
                </a:ext>
              </a:extLst>
            </p:cNvPr>
            <p:cNvSpPr/>
            <p:nvPr/>
          </p:nvSpPr>
          <p:spPr>
            <a:xfrm>
              <a:off x="-6618950" y="4073975"/>
              <a:ext cx="52025" cy="51200"/>
            </a:xfrm>
            <a:custGeom>
              <a:avLst/>
              <a:gdLst/>
              <a:ahLst/>
              <a:cxnLst/>
              <a:rect l="l" t="t" r="r" b="b"/>
              <a:pathLst>
                <a:path w="2081" h="2048" extrusionOk="0">
                  <a:moveTo>
                    <a:pt x="95" y="0"/>
                  </a:moveTo>
                  <a:cubicBezTo>
                    <a:pt x="32" y="315"/>
                    <a:pt x="1" y="662"/>
                    <a:pt x="1" y="1040"/>
                  </a:cubicBezTo>
                  <a:cubicBezTo>
                    <a:pt x="1" y="1386"/>
                    <a:pt x="32" y="1733"/>
                    <a:pt x="95" y="2048"/>
                  </a:cubicBezTo>
                  <a:lnTo>
                    <a:pt x="2080" y="2048"/>
                  </a:lnTo>
                  <a:cubicBezTo>
                    <a:pt x="1986" y="1355"/>
                    <a:pt x="1986" y="725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769;p72">
              <a:extLst>
                <a:ext uri="{FF2B5EF4-FFF2-40B4-BE49-F238E27FC236}">
                  <a16:creationId xmlns:a16="http://schemas.microsoft.com/office/drawing/2014/main" id="{5A02BBEC-7151-9238-19AE-D96299BCED29}"/>
                </a:ext>
              </a:extLst>
            </p:cNvPr>
            <p:cNvSpPr/>
            <p:nvPr/>
          </p:nvSpPr>
          <p:spPr>
            <a:xfrm>
              <a:off x="-6610275" y="3992850"/>
              <a:ext cx="70125" cy="63025"/>
            </a:xfrm>
            <a:custGeom>
              <a:avLst/>
              <a:gdLst/>
              <a:ahLst/>
              <a:cxnLst/>
              <a:rect l="l" t="t" r="r" b="b"/>
              <a:pathLst>
                <a:path w="2805" h="2521" extrusionOk="0">
                  <a:moveTo>
                    <a:pt x="2804" y="0"/>
                  </a:moveTo>
                  <a:lnTo>
                    <a:pt x="2804" y="0"/>
                  </a:lnTo>
                  <a:cubicBezTo>
                    <a:pt x="1544" y="410"/>
                    <a:pt x="504" y="1355"/>
                    <a:pt x="0" y="2521"/>
                  </a:cubicBezTo>
                  <a:lnTo>
                    <a:pt x="1859" y="2521"/>
                  </a:lnTo>
                  <a:cubicBezTo>
                    <a:pt x="2017" y="1575"/>
                    <a:pt x="2363" y="693"/>
                    <a:pt x="28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70;p72">
              <a:extLst>
                <a:ext uri="{FF2B5EF4-FFF2-40B4-BE49-F238E27FC236}">
                  <a16:creationId xmlns:a16="http://schemas.microsoft.com/office/drawing/2014/main" id="{5DC16D0B-7D28-E05B-AC68-7E5A1A1D5E78}"/>
                </a:ext>
              </a:extLst>
            </p:cNvPr>
            <p:cNvSpPr/>
            <p:nvPr/>
          </p:nvSpPr>
          <p:spPr>
            <a:xfrm>
              <a:off x="-6500000" y="4073975"/>
              <a:ext cx="35450" cy="51200"/>
            </a:xfrm>
            <a:custGeom>
              <a:avLst/>
              <a:gdLst/>
              <a:ahLst/>
              <a:cxnLst/>
              <a:rect l="l" t="t" r="r" b="b"/>
              <a:pathLst>
                <a:path w="1418" h="2048" extrusionOk="0">
                  <a:moveTo>
                    <a:pt x="0" y="0"/>
                  </a:moveTo>
                  <a:lnTo>
                    <a:pt x="0" y="2048"/>
                  </a:lnTo>
                  <a:lnTo>
                    <a:pt x="1292" y="2048"/>
                  </a:lnTo>
                  <a:cubicBezTo>
                    <a:pt x="1418" y="1355"/>
                    <a:pt x="1418" y="725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65152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5180-50E6-193D-B18A-70BEF883A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2476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</a:t>
            </a:r>
            <a:endParaRPr lang="en-IN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20C95-4FD9-FE20-3CC7-C140A6D61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grpSp>
        <p:nvGrpSpPr>
          <p:cNvPr id="14" name="Google Shape;431;p42">
            <a:extLst>
              <a:ext uri="{FF2B5EF4-FFF2-40B4-BE49-F238E27FC236}">
                <a16:creationId xmlns:a16="http://schemas.microsoft.com/office/drawing/2014/main" id="{E65BA16E-2656-82CA-70B3-697A9469455E}"/>
              </a:ext>
            </a:extLst>
          </p:cNvPr>
          <p:cNvGrpSpPr/>
          <p:nvPr/>
        </p:nvGrpSpPr>
        <p:grpSpPr>
          <a:xfrm rot="16200000">
            <a:off x="4267452" y="-3283461"/>
            <a:ext cx="562035" cy="9144001"/>
            <a:chOff x="0" y="0"/>
            <a:chExt cx="1199700" cy="5149225"/>
          </a:xfrm>
        </p:grpSpPr>
        <p:sp>
          <p:nvSpPr>
            <p:cNvPr id="15" name="Google Shape;432;p42">
              <a:extLst>
                <a:ext uri="{FF2B5EF4-FFF2-40B4-BE49-F238E27FC236}">
                  <a16:creationId xmlns:a16="http://schemas.microsoft.com/office/drawing/2014/main" id="{1A279116-D306-B1F5-16A8-FBECF55EEAD8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3;p42">
              <a:extLst>
                <a:ext uri="{FF2B5EF4-FFF2-40B4-BE49-F238E27FC236}">
                  <a16:creationId xmlns:a16="http://schemas.microsoft.com/office/drawing/2014/main" id="{ED8618AB-C3E3-E6BD-8E6C-D13A16677A62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4;p42">
              <a:extLst>
                <a:ext uri="{FF2B5EF4-FFF2-40B4-BE49-F238E27FC236}">
                  <a16:creationId xmlns:a16="http://schemas.microsoft.com/office/drawing/2014/main" id="{4522A0EC-CBF4-C4DD-C9A5-4AF7F29BCCED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435;p42">
              <a:extLst>
                <a:ext uri="{FF2B5EF4-FFF2-40B4-BE49-F238E27FC236}">
                  <a16:creationId xmlns:a16="http://schemas.microsoft.com/office/drawing/2014/main" id="{0D224FCB-DD7A-720F-BA53-D77BC7A8949F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436;p42">
              <a:extLst>
                <a:ext uri="{FF2B5EF4-FFF2-40B4-BE49-F238E27FC236}">
                  <a16:creationId xmlns:a16="http://schemas.microsoft.com/office/drawing/2014/main" id="{BA4BE1EF-C5BC-A897-A53B-D24EFF6089D4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7;p42">
              <a:extLst>
                <a:ext uri="{FF2B5EF4-FFF2-40B4-BE49-F238E27FC236}">
                  <a16:creationId xmlns:a16="http://schemas.microsoft.com/office/drawing/2014/main" id="{EAF8FB8C-CABE-8CFF-8B13-BEA4A51A73FA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438;p42">
              <a:extLst>
                <a:ext uri="{FF2B5EF4-FFF2-40B4-BE49-F238E27FC236}">
                  <a16:creationId xmlns:a16="http://schemas.microsoft.com/office/drawing/2014/main" id="{1716499C-575F-B571-678C-B9977C38C606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0" name="Google Shape;431;p42">
            <a:extLst>
              <a:ext uri="{FF2B5EF4-FFF2-40B4-BE49-F238E27FC236}">
                <a16:creationId xmlns:a16="http://schemas.microsoft.com/office/drawing/2014/main" id="{3298786B-711F-3957-4527-205F48365BD3}"/>
              </a:ext>
            </a:extLst>
          </p:cNvPr>
          <p:cNvGrpSpPr/>
          <p:nvPr/>
        </p:nvGrpSpPr>
        <p:grpSpPr>
          <a:xfrm rot="16200000">
            <a:off x="4267452" y="1139515"/>
            <a:ext cx="562035" cy="9144001"/>
            <a:chOff x="0" y="0"/>
            <a:chExt cx="1199700" cy="5149225"/>
          </a:xfrm>
        </p:grpSpPr>
        <p:sp>
          <p:nvSpPr>
            <p:cNvPr id="31" name="Google Shape;432;p42">
              <a:extLst>
                <a:ext uri="{FF2B5EF4-FFF2-40B4-BE49-F238E27FC236}">
                  <a16:creationId xmlns:a16="http://schemas.microsoft.com/office/drawing/2014/main" id="{A8F4AB5B-8375-B6C0-83F8-33AEDA8785B1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" name="Google Shape;433;p42">
              <a:extLst>
                <a:ext uri="{FF2B5EF4-FFF2-40B4-BE49-F238E27FC236}">
                  <a16:creationId xmlns:a16="http://schemas.microsoft.com/office/drawing/2014/main" id="{FB3BB2D2-4242-DD9E-90AB-83D245A1F52F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" name="Google Shape;434;p42">
              <a:extLst>
                <a:ext uri="{FF2B5EF4-FFF2-40B4-BE49-F238E27FC236}">
                  <a16:creationId xmlns:a16="http://schemas.microsoft.com/office/drawing/2014/main" id="{81B97582-4650-454C-4A8A-B82F256CF438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435;p42">
              <a:extLst>
                <a:ext uri="{FF2B5EF4-FFF2-40B4-BE49-F238E27FC236}">
                  <a16:creationId xmlns:a16="http://schemas.microsoft.com/office/drawing/2014/main" id="{1A0AFB0D-47B8-1156-79FC-3B4F5BF8152F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436;p42">
              <a:extLst>
                <a:ext uri="{FF2B5EF4-FFF2-40B4-BE49-F238E27FC236}">
                  <a16:creationId xmlns:a16="http://schemas.microsoft.com/office/drawing/2014/main" id="{0902C96F-FE67-C677-8A5C-FA64FB0D7B08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437;p42">
              <a:extLst>
                <a:ext uri="{FF2B5EF4-FFF2-40B4-BE49-F238E27FC236}">
                  <a16:creationId xmlns:a16="http://schemas.microsoft.com/office/drawing/2014/main" id="{0896053D-BFD7-4B34-2EBA-271582D6DC16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" name="Google Shape;438;p42">
              <a:extLst>
                <a:ext uri="{FF2B5EF4-FFF2-40B4-BE49-F238E27FC236}">
                  <a16:creationId xmlns:a16="http://schemas.microsoft.com/office/drawing/2014/main" id="{BCBA80F9-5725-9505-AEFC-4772D221FAA6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800000" y="2800000"/>
            <a:ext cx="75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architecture diagram here]</a:t>
            </a:r>
          </a:p>
          <a:p>
            <a:r>
              <a:t>Suggested flow: Text Steps → Parser → Playwright Executor → Assertions → Report Store → Notify Agent</a:t>
            </a:r>
          </a:p>
        </p:txBody>
      </p:sp>
    </p:spTree>
    <p:extLst>
      <p:ext uri="{BB962C8B-B14F-4D97-AF65-F5344CB8AC3E}">
        <p14:creationId xmlns:p14="http://schemas.microsoft.com/office/powerpoint/2010/main" val="190891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396E3-BA1D-F06F-9310-230F210A01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  <p:grpSp>
        <p:nvGrpSpPr>
          <p:cNvPr id="10" name="Google Shape;431;p42">
            <a:extLst>
              <a:ext uri="{FF2B5EF4-FFF2-40B4-BE49-F238E27FC236}">
                <a16:creationId xmlns:a16="http://schemas.microsoft.com/office/drawing/2014/main" id="{2DA9BD83-0EA0-F073-2BE1-3DDBFA6DFC63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11" name="Google Shape;432;p42">
              <a:extLst>
                <a:ext uri="{FF2B5EF4-FFF2-40B4-BE49-F238E27FC236}">
                  <a16:creationId xmlns:a16="http://schemas.microsoft.com/office/drawing/2014/main" id="{FF7AA9B5-9D96-BB53-59BB-D3BBFC06BBBF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3;p42">
              <a:extLst>
                <a:ext uri="{FF2B5EF4-FFF2-40B4-BE49-F238E27FC236}">
                  <a16:creationId xmlns:a16="http://schemas.microsoft.com/office/drawing/2014/main" id="{2928AD36-03CC-0741-2482-0F9FC98BD9DF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434;p42">
              <a:extLst>
                <a:ext uri="{FF2B5EF4-FFF2-40B4-BE49-F238E27FC236}">
                  <a16:creationId xmlns:a16="http://schemas.microsoft.com/office/drawing/2014/main" id="{7B55A180-9CDD-F80A-AF44-FB08C8C5D248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435;p42">
              <a:extLst>
                <a:ext uri="{FF2B5EF4-FFF2-40B4-BE49-F238E27FC236}">
                  <a16:creationId xmlns:a16="http://schemas.microsoft.com/office/drawing/2014/main" id="{86C43B92-4D21-F808-8232-84513ACB0760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6;p42">
              <a:extLst>
                <a:ext uri="{FF2B5EF4-FFF2-40B4-BE49-F238E27FC236}">
                  <a16:creationId xmlns:a16="http://schemas.microsoft.com/office/drawing/2014/main" id="{13494E90-0320-D5F0-2A4E-21BF6E99211A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7;p42">
              <a:extLst>
                <a:ext uri="{FF2B5EF4-FFF2-40B4-BE49-F238E27FC236}">
                  <a16:creationId xmlns:a16="http://schemas.microsoft.com/office/drawing/2014/main" id="{CB129E8E-AB80-64DD-A005-E99E7FE41599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8;p42">
              <a:extLst>
                <a:ext uri="{FF2B5EF4-FFF2-40B4-BE49-F238E27FC236}">
                  <a16:creationId xmlns:a16="http://schemas.microsoft.com/office/drawing/2014/main" id="{7DBE7FD4-E415-C913-172E-8FC7C58AE322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" name="Google Shape;431;p42">
            <a:extLst>
              <a:ext uri="{FF2B5EF4-FFF2-40B4-BE49-F238E27FC236}">
                <a16:creationId xmlns:a16="http://schemas.microsoft.com/office/drawing/2014/main" id="{933C01DC-799A-C4AB-701B-041D4D1EEDC3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22" name="Google Shape;432;p42">
              <a:extLst>
                <a:ext uri="{FF2B5EF4-FFF2-40B4-BE49-F238E27FC236}">
                  <a16:creationId xmlns:a16="http://schemas.microsoft.com/office/drawing/2014/main" id="{39703FDF-F700-51C5-709D-92297F5E0E39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433;p42">
              <a:extLst>
                <a:ext uri="{FF2B5EF4-FFF2-40B4-BE49-F238E27FC236}">
                  <a16:creationId xmlns:a16="http://schemas.microsoft.com/office/drawing/2014/main" id="{543024F9-46CF-51F7-6169-2AE6E76AC33D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" name="Google Shape;434;p42">
              <a:extLst>
                <a:ext uri="{FF2B5EF4-FFF2-40B4-BE49-F238E27FC236}">
                  <a16:creationId xmlns:a16="http://schemas.microsoft.com/office/drawing/2014/main" id="{CBB9C0CF-5D33-BC69-C6BA-A49473545706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" name="Google Shape;435;p42">
              <a:extLst>
                <a:ext uri="{FF2B5EF4-FFF2-40B4-BE49-F238E27FC236}">
                  <a16:creationId xmlns:a16="http://schemas.microsoft.com/office/drawing/2014/main" id="{64C30852-B074-300D-EC0A-DE86F5E518B1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" name="Google Shape;436;p42">
              <a:extLst>
                <a:ext uri="{FF2B5EF4-FFF2-40B4-BE49-F238E27FC236}">
                  <a16:creationId xmlns:a16="http://schemas.microsoft.com/office/drawing/2014/main" id="{EB1A0B99-AB3D-9033-5204-D0C17E6AA454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" name="Google Shape;437;p42">
              <a:extLst>
                <a:ext uri="{FF2B5EF4-FFF2-40B4-BE49-F238E27FC236}">
                  <a16:creationId xmlns:a16="http://schemas.microsoft.com/office/drawing/2014/main" id="{1E1F7ADF-A930-1AB3-3EE3-27A13B214D5E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" name="Google Shape;438;p42">
              <a:extLst>
                <a:ext uri="{FF2B5EF4-FFF2-40B4-BE49-F238E27FC236}">
                  <a16:creationId xmlns:a16="http://schemas.microsoft.com/office/drawing/2014/main" id="{9700390E-FCAB-7D69-037F-A9AA2F6FA60F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9" name="Google Shape;357;p39">
            <a:extLst>
              <a:ext uri="{FF2B5EF4-FFF2-40B4-BE49-F238E27FC236}">
                <a16:creationId xmlns:a16="http://schemas.microsoft.com/office/drawing/2014/main" id="{25BD8813-E8BB-C85F-4504-9F30CC41A715}"/>
              </a:ext>
            </a:extLst>
          </p:cNvPr>
          <p:cNvSpPr txBox="1">
            <a:spLocks/>
          </p:cNvSpPr>
          <p:nvPr/>
        </p:nvSpPr>
        <p:spPr>
          <a:xfrm>
            <a:off x="811350" y="16583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600" dirty="0">
                <a:solidFill>
                  <a:srgbClr val="000000"/>
                </a:solidFill>
                <a:latin typeface="Times New Roman"/>
                <a:cs typeface="Times New Roman"/>
              </a:rPr>
              <a:t>Technology Stack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B48BA9-66EB-A924-3E2C-5169F2BFD4B7}"/>
              </a:ext>
            </a:extLst>
          </p:cNvPr>
          <p:cNvSpPr txBox="1"/>
          <p:nvPr/>
        </p:nvSpPr>
        <p:spPr>
          <a:xfrm>
            <a:off x="855415" y="1008423"/>
            <a:ext cx="743317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600" b="1" dirty="0">
                <a:latin typeface="Raleway ExtraBold" pitchFamily="2" charset="0"/>
              </a:rPr>
              <a:t>1. Browser Automation</a:t>
            </a:r>
          </a:p>
          <a:p>
            <a:r>
              <a:rPr lang="en-US" dirty="0"/>
              <a:t>Playwright (Chromium) — action execution, assertions, screenshots</a:t>
            </a:r>
          </a:p>
          <a:p>
            <a:r>
              <a:rPr lang="en-IN" dirty="0"/>
              <a:t/>
            </a:r>
          </a:p>
          <a:p>
            <a:r>
              <a:t>2. Agent / AI Layer</a:t>
            </a:r>
            <a:endParaRPr lang="en-IN" dirty="0"/>
          </a:p>
          <a:p>
            <a:r>
              <a:rPr lang="en-IN" sz="1600" b="1" dirty="0">
                <a:latin typeface="Raleway ExtraBold" pitchFamily="2" charset="0"/>
              </a:rPr>
              <a:t>Rule-based parser (Phase-1) + LLM parser (Phase-2) for text → JSON steps</a:t>
            </a:r>
          </a:p>
          <a:p>
            <a:r>
              <a:rPr lang="en-US" dirty="0"/>
              <a:t>Pydantic schemas for validation</a:t>
            </a:r>
          </a:p>
          <a:p>
            <a:r>
              <a:rPr lang="en-US" dirty="0"/>
              <a:t/>
            </a:r>
          </a:p>
          <a:p>
            <a:r>
              <a:t>3. Backend &amp; Reporting</a:t>
            </a:r>
            <a:endParaRPr lang="en-US" dirty="0"/>
          </a:p>
          <a:p>
            <a:r>
              <a:rPr lang="en-US" sz="1600" b="1" dirty="0">
                <a:latin typeface="Raleway ExtraBold" pitchFamily="2" charset="0"/>
              </a:rPr>
              <a:t>Python, FastAPI — run APIs</a:t>
            </a:r>
          </a:p>
          <a:p>
            <a:r>
              <a:rPr lang="en-US" dirty="0"/>
              <a:t>JSON + Markdown report writers</a:t>
            </a:r>
          </a:p>
          <a:p>
            <a:r>
              <a:rPr lang="en-US" dirty="0"/>
              <a:t>YAML team ownership map</a:t>
            </a:r>
          </a:p>
          <a:p>
            <a:r>
              <a:t/>
            </a:r>
            <a:endParaRPr lang="en-US" dirty="0"/>
          </a:p>
          <a:p>
            <a:r>
              <a:rPr lang="en-US" sz="1600" b="1" dirty="0">
                <a:latin typeface="Raleway ExtraBold" pitchFamily="2" charset="0"/>
              </a:rPr>
              <a:t>4. Notification</a:t>
            </a:r>
          </a:p>
          <a:p>
            <a:r>
              <a:rPr lang="en-US" dirty="0"/>
              <a:t>Console alerts (now); Slack webhook / Email (next)</a:t>
            </a:r>
          </a:p>
          <a:p>
            <a:r>
              <a:rPr lang="en-US" dirty="0"/>
              <a:t/>
            </a:r>
          </a:p>
          <a:p>
            <a:r>
              <a:rPr lang="en-US" dirty="0"/>
              <a:t>5. Engineering</a:t>
            </a:r>
          </a:p>
          <a:p>
            <a:r>
              <a:t>GitHub, pytest, VS Code / Cursor</a:t>
            </a:r>
            <a:endParaRPr lang="en-US" dirty="0"/>
          </a:p>
          <a:p>
            <a:r>
              <a:rPr lang="en-US" sz="1600" b="1" dirty="0">
                <a:latin typeface="Raleway ExtraBold" pitchFamily="2" charset="0"/>
              </a:rPr>
              <a:t>Demo apps: Sauce Demo / DemoQA (ClickUp/Zoho if mentors allow)</a:t>
            </a:r>
          </a:p>
          <a:p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sz="1600" b="1" dirty="0">
                <a:latin typeface="Raleway ExtraBold" pitchFamily="2" charset="0"/>
              </a:rPr>
              <a:t/>
            </a:r>
          </a:p>
          <a:p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endParaRPr lang="en-US" dirty="0"/>
          </a:p>
          <a:p>
            <a:endParaRPr lang="en-US" sz="1600" b="1" dirty="0">
              <a:latin typeface="Raleway ExtraBold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556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E017-7A74-7D1D-CACB-7C3687BD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Work done till now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C63D6-C1CE-FFDE-C7DD-07167A55C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33394"/>
            <a:ext cx="78867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Raleway ExtraBold" pitchFamily="2" charset="0"/>
              </a:rPr>
              <a:t>Foundation &amp; Contracts:</a:t>
            </a:r>
          </a:p>
          <a:p>
            <a:pPr marL="114300" indent="0">
              <a:buNone/>
            </a:pPr>
            <a:r>
              <a:rPr lang="en-IN" sz="1800" b="1" dirty="0"/>
              <a:t>Created project repository and package layout</a:t>
            </a:r>
          </a:p>
          <a:p>
            <a:r>
              <a:rPr lang="en-IN" sz="1800" dirty="0"/>
              <a:t>Locked Step Schema (goto/fill/click/assert/...)</a:t>
            </a:r>
          </a:p>
          <a:p>
            <a:r>
              <a:rPr lang="en-IN" sz="1800" dirty="0"/>
              <a:t>Locked Report Schema (pass/fail + evidence fields)</a:t>
            </a:r>
          </a:p>
          <a:p>
            <a:pPr marL="114300" indent="0">
              <a:buNone/>
            </a:pPr>
            <a:r>
              <a:rPr lang="en-US" sz="1800" b="1" dirty="0"/>
              <a:t>Team ownership map (module → team → channel)</a:t>
            </a:r>
          </a:p>
          <a:p>
            <a:r>
              <a:rPr lang="en-US" sz="1800" dirty="0"/>
              <a:t>Wrote objectives, architecture notes, literature starter</a:t>
            </a:r>
          </a:p>
          <a:p>
            <a:r>
              <a:rPr lang="en-US" sz="1800" dirty="0"/>
              <a:t>Prepared 10 plain-text sample test cases</a:t>
            </a:r>
          </a:p>
          <a:p>
            <a:r>
              <a:rPr lang="en-US" sz="1800" dirty="0"/>
              <a:t>Output</a:t>
            </a:r>
          </a:p>
          <a:p>
            <a:r>
              <a:rPr lang="en-US" sz="1800" dirty="0"/>
              <a:t>Runnable scaffold with fixed contracts for integration</a:t>
            </a:r>
          </a:p>
          <a:p>
            <a:pPr marL="114300" indent="0">
              <a:buNone/>
            </a:pPr>
            <a:r>
              <a:rPr lang="en-US" sz="1800" b="1" dirty="0"/>
              <a:t/>
            </a:r>
          </a:p>
          <a:p>
            <a:r>
              <a:rPr lang="en-US" sz="1800" dirty="0"/>
              <a:t/>
            </a:r>
          </a:p>
          <a:p>
            <a:r>
              <a:rPr lang="en-US" sz="1800" dirty="0"/>
              <a:t/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800" dirty="0">
              <a:solidFill>
                <a:schemeClr val="bg2">
                  <a:lumMod val="50000"/>
                </a:schemeClr>
              </a:solidFill>
              <a:latin typeface="Raleway ExtraBold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C6E8B-8330-906F-657A-D9E0F814EF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grpSp>
        <p:nvGrpSpPr>
          <p:cNvPr id="5" name="Google Shape;431;p42">
            <a:extLst>
              <a:ext uri="{FF2B5EF4-FFF2-40B4-BE49-F238E27FC236}">
                <a16:creationId xmlns:a16="http://schemas.microsoft.com/office/drawing/2014/main" id="{226A9CDD-95AA-0FD7-33A2-51C6D9DCC5C8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6" name="Google Shape;432;p42">
              <a:extLst>
                <a:ext uri="{FF2B5EF4-FFF2-40B4-BE49-F238E27FC236}">
                  <a16:creationId xmlns:a16="http://schemas.microsoft.com/office/drawing/2014/main" id="{0552F457-F9C3-D972-BC25-FEA53FC4A254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433;p42">
              <a:extLst>
                <a:ext uri="{FF2B5EF4-FFF2-40B4-BE49-F238E27FC236}">
                  <a16:creationId xmlns:a16="http://schemas.microsoft.com/office/drawing/2014/main" id="{0DFDB5F7-443A-BA7D-E3D6-B8BC338233EB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434;p42">
              <a:extLst>
                <a:ext uri="{FF2B5EF4-FFF2-40B4-BE49-F238E27FC236}">
                  <a16:creationId xmlns:a16="http://schemas.microsoft.com/office/drawing/2014/main" id="{1BCB04D6-E26D-1E98-0422-E8E91F4EE1D2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435;p42">
              <a:extLst>
                <a:ext uri="{FF2B5EF4-FFF2-40B4-BE49-F238E27FC236}">
                  <a16:creationId xmlns:a16="http://schemas.microsoft.com/office/drawing/2014/main" id="{76441355-E513-5A7A-D2DA-B2F53DBBDB3C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436;p42">
              <a:extLst>
                <a:ext uri="{FF2B5EF4-FFF2-40B4-BE49-F238E27FC236}">
                  <a16:creationId xmlns:a16="http://schemas.microsoft.com/office/drawing/2014/main" id="{515320CF-5526-E879-631B-CEB65CBE3470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437;p42">
              <a:extLst>
                <a:ext uri="{FF2B5EF4-FFF2-40B4-BE49-F238E27FC236}">
                  <a16:creationId xmlns:a16="http://schemas.microsoft.com/office/drawing/2014/main" id="{FC37F4CD-C976-191B-62D2-6240BC27AEF6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8;p42">
              <a:extLst>
                <a:ext uri="{FF2B5EF4-FFF2-40B4-BE49-F238E27FC236}">
                  <a16:creationId xmlns:a16="http://schemas.microsoft.com/office/drawing/2014/main" id="{1D012E9E-DF08-12AF-4D5D-E7031D60B1B9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431;p42">
            <a:extLst>
              <a:ext uri="{FF2B5EF4-FFF2-40B4-BE49-F238E27FC236}">
                <a16:creationId xmlns:a16="http://schemas.microsoft.com/office/drawing/2014/main" id="{FEEA3A8B-46DE-A8F3-AAE0-7074F44FA83C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14" name="Google Shape;432;p42">
              <a:extLst>
                <a:ext uri="{FF2B5EF4-FFF2-40B4-BE49-F238E27FC236}">
                  <a16:creationId xmlns:a16="http://schemas.microsoft.com/office/drawing/2014/main" id="{7BB5EA44-3331-4BC5-47AD-72AEF8AF0C73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3;p42">
              <a:extLst>
                <a:ext uri="{FF2B5EF4-FFF2-40B4-BE49-F238E27FC236}">
                  <a16:creationId xmlns:a16="http://schemas.microsoft.com/office/drawing/2014/main" id="{55E9D55B-CD83-79C5-D558-C90A6493C06A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4;p42">
              <a:extLst>
                <a:ext uri="{FF2B5EF4-FFF2-40B4-BE49-F238E27FC236}">
                  <a16:creationId xmlns:a16="http://schemas.microsoft.com/office/drawing/2014/main" id="{6C70E4E6-EE57-1172-9A7C-0B80ABDC5B16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5;p42">
              <a:extLst>
                <a:ext uri="{FF2B5EF4-FFF2-40B4-BE49-F238E27FC236}">
                  <a16:creationId xmlns:a16="http://schemas.microsoft.com/office/drawing/2014/main" id="{6DCF2860-15A2-C78E-BE21-C365A738E55B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436;p42">
              <a:extLst>
                <a:ext uri="{FF2B5EF4-FFF2-40B4-BE49-F238E27FC236}">
                  <a16:creationId xmlns:a16="http://schemas.microsoft.com/office/drawing/2014/main" id="{B0251CAB-9AE7-49F0-D55E-4656486BD47F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437;p42">
              <a:extLst>
                <a:ext uri="{FF2B5EF4-FFF2-40B4-BE49-F238E27FC236}">
                  <a16:creationId xmlns:a16="http://schemas.microsoft.com/office/drawing/2014/main" id="{52F89C9E-FC1C-00BC-B80F-2364E85BB31C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8;p42">
              <a:extLst>
                <a:ext uri="{FF2B5EF4-FFF2-40B4-BE49-F238E27FC236}">
                  <a16:creationId xmlns:a16="http://schemas.microsoft.com/office/drawing/2014/main" id="{F08E398A-EB2C-87B4-0C85-3338C729857B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1758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D5EE5-FB65-A751-0020-D417ECC0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5C11-571B-B4D0-035C-7875D502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Work done till now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BE67A-DD2C-2911-DF44-930EFACD6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33394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chemeClr val="bg2">
                    <a:lumMod val="50000"/>
                  </a:schemeClr>
                </a:solidFill>
                <a:latin typeface="Raleway ExtraBold" pitchFamily="2" charset="0"/>
              </a:rPr>
              <a:t>Core Pipeline Implementation:</a:t>
            </a:r>
            <a:endParaRPr lang="en-US" sz="1800" dirty="0">
              <a:solidFill>
                <a:schemeClr val="bg2">
                  <a:lumMod val="50000"/>
                </a:schemeClr>
              </a:solidFill>
              <a:latin typeface="Raleway ExtraBold" pitchFamily="2" charset="0"/>
            </a:endParaRPr>
          </a:p>
          <a:p>
            <a:pPr marL="114300" indent="0">
              <a:buNone/>
            </a:pPr>
            <a:r>
              <a:rPr lang="en-IN" sz="1800" b="1" dirty="0"/>
              <a:t>Rule-based plain-text → JSON parser</a:t>
            </a:r>
          </a:p>
          <a:p>
            <a:r>
              <a:rPr lang="en-IN" sz="1800" dirty="0"/>
              <a:t>PlaywrightExecutor (actions + assertions)</a:t>
            </a:r>
          </a:p>
          <a:p>
            <a:r>
              <a:rPr lang="en-IN" sz="1800" dirty="0"/>
              <a:t>Failure screenshots + skip-after-fail policy</a:t>
            </a:r>
          </a:p>
          <a:p>
            <a:r>
              <a:rPr lang="en-IN" sz="1800" dirty="0"/>
              <a:t>Report writer (JSON + Markdown)</a:t>
            </a:r>
          </a:p>
          <a:p>
            <a:r>
              <a:rPr lang="en-IN" sz="1800" dirty="0"/>
              <a:t>NotifyAgent (console ticket-style alerts)</a:t>
            </a:r>
          </a:p>
          <a:p>
            <a:pPr marL="114300" indent="0">
              <a:buNone/>
            </a:pPr>
            <a:r>
              <a:rPr lang="en-US" sz="1800" b="1" dirty="0"/>
              <a:t>FastAPI skeleton (/run/text, /run/json)</a:t>
            </a:r>
          </a:p>
          <a:p>
            <a:r>
              <a:rPr lang="en-US" sz="1800" dirty="0"/>
              <a:t>CLI runner scripts/run_suite.py</a:t>
            </a:r>
          </a:p>
          <a:p>
            <a:r>
              <a:rPr lang="en-US" sz="1800" dirty="0"/>
              <a:t>Outcome</a:t>
            </a:r>
          </a:p>
          <a:p>
            <a:r>
              <a:rPr lang="en-US" sz="1800" dirty="0"/>
              <a:t>End-to-end executable MVP path available</a:t>
            </a:r>
          </a:p>
          <a:p>
            <a:pPr marL="114300" indent="0">
              <a:buNone/>
            </a:pPr>
            <a:r>
              <a:rPr lang="en-US" sz="1800" b="1" dirty="0"/>
              <a:t/>
            </a:r>
          </a:p>
          <a:p>
            <a:r>
              <a:rPr lang="en-US" sz="1800" dirty="0"/>
              <a:t/>
            </a:r>
            <a:r>
              <a:rPr lang="en-US" sz="1800" dirty="0" err="1"/>
              <a:t/>
            </a:r>
            <a:r>
              <a:rPr lang="en-US" sz="1800" dirty="0"/>
              <a:t/>
            </a:r>
          </a:p>
          <a:p>
            <a:r>
              <a:rPr lang="en-US" sz="1800" dirty="0"/>
              <a:t/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800" dirty="0">
              <a:solidFill>
                <a:schemeClr val="bg2">
                  <a:lumMod val="50000"/>
                </a:schemeClr>
              </a:solidFill>
              <a:latin typeface="Raleway ExtraBold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CC146-18F8-ED11-B3D9-1134E12ADF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p:grpSp>
        <p:nvGrpSpPr>
          <p:cNvPr id="5" name="Google Shape;431;p42">
            <a:extLst>
              <a:ext uri="{FF2B5EF4-FFF2-40B4-BE49-F238E27FC236}">
                <a16:creationId xmlns:a16="http://schemas.microsoft.com/office/drawing/2014/main" id="{CC115CD1-52BE-F45F-71B1-80C630B068C8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6" name="Google Shape;432;p42">
              <a:extLst>
                <a:ext uri="{FF2B5EF4-FFF2-40B4-BE49-F238E27FC236}">
                  <a16:creationId xmlns:a16="http://schemas.microsoft.com/office/drawing/2014/main" id="{2C1C2A28-2F2A-E1E7-0592-3A87DF9C3C71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433;p42">
              <a:extLst>
                <a:ext uri="{FF2B5EF4-FFF2-40B4-BE49-F238E27FC236}">
                  <a16:creationId xmlns:a16="http://schemas.microsoft.com/office/drawing/2014/main" id="{765CD68F-F6EE-D21B-62B2-FCC39D0F8B3F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434;p42">
              <a:extLst>
                <a:ext uri="{FF2B5EF4-FFF2-40B4-BE49-F238E27FC236}">
                  <a16:creationId xmlns:a16="http://schemas.microsoft.com/office/drawing/2014/main" id="{538996E2-396C-9EB4-9379-2CD17262D476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435;p42">
              <a:extLst>
                <a:ext uri="{FF2B5EF4-FFF2-40B4-BE49-F238E27FC236}">
                  <a16:creationId xmlns:a16="http://schemas.microsoft.com/office/drawing/2014/main" id="{02182ADC-6FD3-A6B4-9D52-95A97183D5F9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436;p42">
              <a:extLst>
                <a:ext uri="{FF2B5EF4-FFF2-40B4-BE49-F238E27FC236}">
                  <a16:creationId xmlns:a16="http://schemas.microsoft.com/office/drawing/2014/main" id="{A4F23DDA-F1B2-09FB-21F2-A5C84C4C0633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437;p42">
              <a:extLst>
                <a:ext uri="{FF2B5EF4-FFF2-40B4-BE49-F238E27FC236}">
                  <a16:creationId xmlns:a16="http://schemas.microsoft.com/office/drawing/2014/main" id="{EB557A9C-A147-5762-CDB0-C37C6DD499D0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8;p42">
              <a:extLst>
                <a:ext uri="{FF2B5EF4-FFF2-40B4-BE49-F238E27FC236}">
                  <a16:creationId xmlns:a16="http://schemas.microsoft.com/office/drawing/2014/main" id="{46613EE9-BD47-8984-20C6-1CDB18EE49F4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431;p42">
            <a:extLst>
              <a:ext uri="{FF2B5EF4-FFF2-40B4-BE49-F238E27FC236}">
                <a16:creationId xmlns:a16="http://schemas.microsoft.com/office/drawing/2014/main" id="{930F3CF0-9BC0-A3C8-1012-98C7F17D954F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14" name="Google Shape;432;p42">
              <a:extLst>
                <a:ext uri="{FF2B5EF4-FFF2-40B4-BE49-F238E27FC236}">
                  <a16:creationId xmlns:a16="http://schemas.microsoft.com/office/drawing/2014/main" id="{C8DCA216-907C-3929-D2E1-B3037C2CB3F2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3;p42">
              <a:extLst>
                <a:ext uri="{FF2B5EF4-FFF2-40B4-BE49-F238E27FC236}">
                  <a16:creationId xmlns:a16="http://schemas.microsoft.com/office/drawing/2014/main" id="{1C6B9280-A660-8319-9633-2DE424B18F50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4;p42">
              <a:extLst>
                <a:ext uri="{FF2B5EF4-FFF2-40B4-BE49-F238E27FC236}">
                  <a16:creationId xmlns:a16="http://schemas.microsoft.com/office/drawing/2014/main" id="{6AB3C8D3-9171-4130-BF54-68CB81EC3566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5;p42">
              <a:extLst>
                <a:ext uri="{FF2B5EF4-FFF2-40B4-BE49-F238E27FC236}">
                  <a16:creationId xmlns:a16="http://schemas.microsoft.com/office/drawing/2014/main" id="{79A981EB-8C52-2A75-9169-E9E851ACAAE4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436;p42">
              <a:extLst>
                <a:ext uri="{FF2B5EF4-FFF2-40B4-BE49-F238E27FC236}">
                  <a16:creationId xmlns:a16="http://schemas.microsoft.com/office/drawing/2014/main" id="{9D2E16BE-3E2F-87AC-5CFE-FF83A62FA45E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437;p42">
              <a:extLst>
                <a:ext uri="{FF2B5EF4-FFF2-40B4-BE49-F238E27FC236}">
                  <a16:creationId xmlns:a16="http://schemas.microsoft.com/office/drawing/2014/main" id="{4982CA24-66C3-91F2-BCE4-6C8332773F2B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8;p42">
              <a:extLst>
                <a:ext uri="{FF2B5EF4-FFF2-40B4-BE49-F238E27FC236}">
                  <a16:creationId xmlns:a16="http://schemas.microsoft.com/office/drawing/2014/main" id="{A85A02A3-4B48-B445-87F2-27EFDB189539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4164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3698F-862E-0B8F-E913-479E42315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CB53-1A42-F6DB-5A59-A03B4EF6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Work done till now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9DE1E-CA06-E450-F7CD-0D1643964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33394"/>
            <a:ext cx="78867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900" dirty="0">
                <a:solidFill>
                  <a:schemeClr val="bg2">
                    <a:lumMod val="50000"/>
                  </a:schemeClr>
                </a:solidFill>
                <a:latin typeface="Raleway ExtraBold" pitchFamily="2" charset="0"/>
              </a:rPr>
              <a:t>Validation &amp; Smoke Results:</a:t>
            </a:r>
            <a:r>
              <a:rPr lang="en-IN" sz="1800" dirty="0">
                <a:solidFill>
                  <a:schemeClr val="bg2">
                    <a:lumMod val="50000"/>
                  </a:schemeClr>
                </a:solidFill>
                <a:latin typeface="Raleway ExtraBold" pitchFamily="2" charset="0"/>
              </a:rPr>
              <a:t/>
            </a:r>
            <a:endParaRPr lang="en-US" sz="1800" dirty="0">
              <a:solidFill>
                <a:schemeClr val="bg2">
                  <a:lumMod val="50000"/>
                </a:schemeClr>
              </a:solidFill>
              <a:latin typeface="Raleway ExtraBold" pitchFamily="2" charset="0"/>
            </a:endParaRPr>
          </a:p>
          <a:p>
            <a:pPr marL="114300" indent="0">
              <a:buNone/>
            </a:pPr>
            <a:r>
              <a:rPr lang="en-IN" sz="1800" b="1" dirty="0"/>
              <a:t>Unit test for parser mapping (pytest)</a:t>
            </a:r>
          </a:p>
          <a:p>
            <a:r>
              <a:rPr lang="en-IN" sz="1800" dirty="0"/>
              <a:t>JSON login suite on Sauce Demo: PASSED (7/7 steps)</a:t>
            </a:r>
          </a:p>
          <a:p>
            <a:r>
              <a:rPr lang="en-IN" sz="1800" dirty="0"/>
              <a:t>Intentional fail case: FAILED at assert_text as expected</a:t>
            </a:r>
          </a:p>
          <a:p>
            <a:r>
              <a:rPr lang="en-IN" sz="1800" dirty="0"/>
              <a:t>Notify agent triggered ticket to mapped QA team</a:t>
            </a:r>
          </a:p>
          <a:p>
            <a:r>
              <a:rPr lang="en-IN" sz="1800" dirty="0"/>
              <a:t>Artifacts stored under data/reports and screenshots</a:t>
            </a:r>
          </a:p>
          <a:p>
            <a:pPr marL="114300" indent="0">
              <a:buNone/>
            </a:pPr>
            <a:r>
              <a:rPr lang="en-US" sz="1800" b="1" dirty="0"/>
              <a:t>Next</a:t>
            </a:r>
          </a:p>
          <a:p>
            <a:r>
              <a:rPr lang="en-US" sz="1800" dirty="0"/>
              <a:t>LLM parser, dashboard UI, more flows, Slack/email notify</a:t>
            </a:r>
          </a:p>
          <a:p>
            <a:r>
              <a:rPr lang="en-US" sz="1800" dirty="0"/>
              <a:t/>
            </a:r>
          </a:p>
          <a:p>
            <a:pPr marL="114300" indent="0">
              <a:buNone/>
            </a:pPr>
            <a:r>
              <a:rPr lang="en-US" sz="1800" b="1" dirty="0"/>
              <a:t/>
            </a:r>
          </a:p>
          <a:p>
            <a:r>
              <a:rPr lang="en-US" sz="1800" dirty="0"/>
              <a:t/>
            </a:r>
          </a:p>
          <a:p>
            <a:r>
              <a:rPr lang="en-US" sz="1800" dirty="0"/>
              <a:t/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800" dirty="0">
              <a:solidFill>
                <a:schemeClr val="bg2">
                  <a:lumMod val="50000"/>
                </a:schemeClr>
              </a:solidFill>
              <a:latin typeface="Raleway ExtraBold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57000-CE19-13E0-63F4-6DB607C37F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grpSp>
        <p:nvGrpSpPr>
          <p:cNvPr id="5" name="Google Shape;431;p42">
            <a:extLst>
              <a:ext uri="{FF2B5EF4-FFF2-40B4-BE49-F238E27FC236}">
                <a16:creationId xmlns:a16="http://schemas.microsoft.com/office/drawing/2014/main" id="{224B3E56-B0CB-1CC7-F0EB-575F6474A39D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6" name="Google Shape;432;p42">
              <a:extLst>
                <a:ext uri="{FF2B5EF4-FFF2-40B4-BE49-F238E27FC236}">
                  <a16:creationId xmlns:a16="http://schemas.microsoft.com/office/drawing/2014/main" id="{DCDE5392-C7FE-D887-7DC2-DFA69F171D53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433;p42">
              <a:extLst>
                <a:ext uri="{FF2B5EF4-FFF2-40B4-BE49-F238E27FC236}">
                  <a16:creationId xmlns:a16="http://schemas.microsoft.com/office/drawing/2014/main" id="{D3B9D35F-CB19-38D0-D3AF-5520EE1200F9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434;p42">
              <a:extLst>
                <a:ext uri="{FF2B5EF4-FFF2-40B4-BE49-F238E27FC236}">
                  <a16:creationId xmlns:a16="http://schemas.microsoft.com/office/drawing/2014/main" id="{448EE08E-9F80-1CF8-88BC-93A041D0B73B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435;p42">
              <a:extLst>
                <a:ext uri="{FF2B5EF4-FFF2-40B4-BE49-F238E27FC236}">
                  <a16:creationId xmlns:a16="http://schemas.microsoft.com/office/drawing/2014/main" id="{1B5BD3B3-725E-46EF-4B1D-6FFECF916209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436;p42">
              <a:extLst>
                <a:ext uri="{FF2B5EF4-FFF2-40B4-BE49-F238E27FC236}">
                  <a16:creationId xmlns:a16="http://schemas.microsoft.com/office/drawing/2014/main" id="{BEEA8112-A470-DD6D-2768-BE9AFD3D4D50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437;p42">
              <a:extLst>
                <a:ext uri="{FF2B5EF4-FFF2-40B4-BE49-F238E27FC236}">
                  <a16:creationId xmlns:a16="http://schemas.microsoft.com/office/drawing/2014/main" id="{19DA1739-A6EA-4E56-6D67-4FD8CE2DE757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8;p42">
              <a:extLst>
                <a:ext uri="{FF2B5EF4-FFF2-40B4-BE49-F238E27FC236}">
                  <a16:creationId xmlns:a16="http://schemas.microsoft.com/office/drawing/2014/main" id="{2910D9F1-F7A6-CF26-6DB0-BCB374787052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431;p42">
            <a:extLst>
              <a:ext uri="{FF2B5EF4-FFF2-40B4-BE49-F238E27FC236}">
                <a16:creationId xmlns:a16="http://schemas.microsoft.com/office/drawing/2014/main" id="{8F164DD6-7EA1-2E0D-AB37-07BB38962370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14" name="Google Shape;432;p42">
              <a:extLst>
                <a:ext uri="{FF2B5EF4-FFF2-40B4-BE49-F238E27FC236}">
                  <a16:creationId xmlns:a16="http://schemas.microsoft.com/office/drawing/2014/main" id="{0CD90A45-BBED-D214-4745-A1E3615BC6B0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3;p42">
              <a:extLst>
                <a:ext uri="{FF2B5EF4-FFF2-40B4-BE49-F238E27FC236}">
                  <a16:creationId xmlns:a16="http://schemas.microsoft.com/office/drawing/2014/main" id="{410B1E1C-DF8F-668E-1096-72253ED4067C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4;p42">
              <a:extLst>
                <a:ext uri="{FF2B5EF4-FFF2-40B4-BE49-F238E27FC236}">
                  <a16:creationId xmlns:a16="http://schemas.microsoft.com/office/drawing/2014/main" id="{2163DABA-6946-BC2E-DBEC-1A013D0A73FC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5;p42">
              <a:extLst>
                <a:ext uri="{FF2B5EF4-FFF2-40B4-BE49-F238E27FC236}">
                  <a16:creationId xmlns:a16="http://schemas.microsoft.com/office/drawing/2014/main" id="{2963CFA3-0137-ADF3-1FDF-B5B2D3571699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436;p42">
              <a:extLst>
                <a:ext uri="{FF2B5EF4-FFF2-40B4-BE49-F238E27FC236}">
                  <a16:creationId xmlns:a16="http://schemas.microsoft.com/office/drawing/2014/main" id="{87B3BB13-33D5-54DC-D68E-BCB548D3D8F4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437;p42">
              <a:extLst>
                <a:ext uri="{FF2B5EF4-FFF2-40B4-BE49-F238E27FC236}">
                  <a16:creationId xmlns:a16="http://schemas.microsoft.com/office/drawing/2014/main" id="{6D524337-F5BD-4049-FECB-00D7051BE199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8;p42">
              <a:extLst>
                <a:ext uri="{FF2B5EF4-FFF2-40B4-BE49-F238E27FC236}">
                  <a16:creationId xmlns:a16="http://schemas.microsoft.com/office/drawing/2014/main" id="{9D5C9D90-851A-F864-F5A8-1C964772DE89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9811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9152-7DBB-BCF7-FF43-B3466518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Conclusion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96046-74BD-023B-42CF-AB31F9EFB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DS 1 needs an agentic Quality Engineering workflow: text steps → execute → verify.</a:t>
            </a:r>
          </a:p>
          <a:p>
            <a:r>
              <a:rPr lang="en-US" dirty="0"/>
              <a:t>Pass/fail documentation with evidence is essential for mentor/industry review.</a:t>
            </a:r>
          </a:p>
          <a:p>
            <a:r>
              <a:rPr lang="en-US" dirty="0"/>
              <a:t>Scrum-style notify closes the loop by routing failures to owning teams quickly.</a:t>
            </a:r>
            <a:endParaRPr lang="en-IN" dirty="0"/>
          </a:p>
          <a:p>
            <a:r>
              <a:t>Phase-1 foundation is demoable; Phase-2 will deepen AI parsing, UI, and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A5B49-D5BE-4502-8185-363AEFCC02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p:grpSp>
        <p:nvGrpSpPr>
          <p:cNvPr id="5" name="Google Shape;431;p42">
            <a:extLst>
              <a:ext uri="{FF2B5EF4-FFF2-40B4-BE49-F238E27FC236}">
                <a16:creationId xmlns:a16="http://schemas.microsoft.com/office/drawing/2014/main" id="{7F4FE265-AD86-F137-5A44-6189027140C0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6" name="Google Shape;432;p42">
              <a:extLst>
                <a:ext uri="{FF2B5EF4-FFF2-40B4-BE49-F238E27FC236}">
                  <a16:creationId xmlns:a16="http://schemas.microsoft.com/office/drawing/2014/main" id="{81C5B6BC-7FDA-5C33-6509-434027E3BC91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433;p42">
              <a:extLst>
                <a:ext uri="{FF2B5EF4-FFF2-40B4-BE49-F238E27FC236}">
                  <a16:creationId xmlns:a16="http://schemas.microsoft.com/office/drawing/2014/main" id="{7C6EBA59-5467-2DC8-EE46-E94BBF6A17AA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434;p42">
              <a:extLst>
                <a:ext uri="{FF2B5EF4-FFF2-40B4-BE49-F238E27FC236}">
                  <a16:creationId xmlns:a16="http://schemas.microsoft.com/office/drawing/2014/main" id="{73B894D3-556B-CAA5-D089-A027C68CF007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435;p42">
              <a:extLst>
                <a:ext uri="{FF2B5EF4-FFF2-40B4-BE49-F238E27FC236}">
                  <a16:creationId xmlns:a16="http://schemas.microsoft.com/office/drawing/2014/main" id="{BAA05D4A-11A2-4507-8DA5-3B48BB8773D8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436;p42">
              <a:extLst>
                <a:ext uri="{FF2B5EF4-FFF2-40B4-BE49-F238E27FC236}">
                  <a16:creationId xmlns:a16="http://schemas.microsoft.com/office/drawing/2014/main" id="{C6C28C61-A311-4D21-CE73-419E0DCE1490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437;p42">
              <a:extLst>
                <a:ext uri="{FF2B5EF4-FFF2-40B4-BE49-F238E27FC236}">
                  <a16:creationId xmlns:a16="http://schemas.microsoft.com/office/drawing/2014/main" id="{9503D922-8A54-DE49-0895-040A4DAECE3E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8;p42">
              <a:extLst>
                <a:ext uri="{FF2B5EF4-FFF2-40B4-BE49-F238E27FC236}">
                  <a16:creationId xmlns:a16="http://schemas.microsoft.com/office/drawing/2014/main" id="{63AD24B3-B955-C360-599F-B4CEA64D6676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431;p42">
            <a:extLst>
              <a:ext uri="{FF2B5EF4-FFF2-40B4-BE49-F238E27FC236}">
                <a16:creationId xmlns:a16="http://schemas.microsoft.com/office/drawing/2014/main" id="{D06932D1-065C-CDD0-A31C-5206BE2F13FC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14" name="Google Shape;432;p42">
              <a:extLst>
                <a:ext uri="{FF2B5EF4-FFF2-40B4-BE49-F238E27FC236}">
                  <a16:creationId xmlns:a16="http://schemas.microsoft.com/office/drawing/2014/main" id="{31653762-F9CD-B044-64CE-EFB286CD160C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3;p42">
              <a:extLst>
                <a:ext uri="{FF2B5EF4-FFF2-40B4-BE49-F238E27FC236}">
                  <a16:creationId xmlns:a16="http://schemas.microsoft.com/office/drawing/2014/main" id="{0218634E-8B82-EAAA-3BD0-57EAEDBBCCA2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4;p42">
              <a:extLst>
                <a:ext uri="{FF2B5EF4-FFF2-40B4-BE49-F238E27FC236}">
                  <a16:creationId xmlns:a16="http://schemas.microsoft.com/office/drawing/2014/main" id="{835F816D-7094-5F4F-BDDE-174CE98A0A3F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5;p42">
              <a:extLst>
                <a:ext uri="{FF2B5EF4-FFF2-40B4-BE49-F238E27FC236}">
                  <a16:creationId xmlns:a16="http://schemas.microsoft.com/office/drawing/2014/main" id="{480F9A65-73F0-9D0E-7F08-8F124F507AC1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436;p42">
              <a:extLst>
                <a:ext uri="{FF2B5EF4-FFF2-40B4-BE49-F238E27FC236}">
                  <a16:creationId xmlns:a16="http://schemas.microsoft.com/office/drawing/2014/main" id="{67236896-24F1-3B4B-A147-D584B93AF272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437;p42">
              <a:extLst>
                <a:ext uri="{FF2B5EF4-FFF2-40B4-BE49-F238E27FC236}">
                  <a16:creationId xmlns:a16="http://schemas.microsoft.com/office/drawing/2014/main" id="{A5B33671-B67B-ABDE-D3E6-930FB3169DB8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8;p42">
              <a:extLst>
                <a:ext uri="{FF2B5EF4-FFF2-40B4-BE49-F238E27FC236}">
                  <a16:creationId xmlns:a16="http://schemas.microsoft.com/office/drawing/2014/main" id="{88B77519-AFFC-472E-3791-0470618D2815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826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93B1-8E49-B62B-02E3-3D4DD82C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05B73-63B8-67B3-7F2A-072D048E99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p:sp>
        <p:nvSpPr>
          <p:cNvPr id="7" name="Google Shape;357;p39">
            <a:extLst>
              <a:ext uri="{FF2B5EF4-FFF2-40B4-BE49-F238E27FC236}">
                <a16:creationId xmlns:a16="http://schemas.microsoft.com/office/drawing/2014/main" id="{A24815BA-B446-D060-39E2-EE5C206E942F}"/>
              </a:ext>
            </a:extLst>
          </p:cNvPr>
          <p:cNvSpPr txBox="1">
            <a:spLocks/>
          </p:cNvSpPr>
          <p:nvPr/>
        </p:nvSpPr>
        <p:spPr>
          <a:xfrm>
            <a:off x="811350" y="56986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dirty="0"/>
              <a:t>References</a:t>
            </a:r>
            <a:endParaRPr lang="en-IN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8" name="Google Shape;431;p42">
            <a:extLst>
              <a:ext uri="{FF2B5EF4-FFF2-40B4-BE49-F238E27FC236}">
                <a16:creationId xmlns:a16="http://schemas.microsoft.com/office/drawing/2014/main" id="{6DBF42EF-D1F0-D6C5-3211-F388F6675230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9" name="Google Shape;432;p42">
              <a:extLst>
                <a:ext uri="{FF2B5EF4-FFF2-40B4-BE49-F238E27FC236}">
                  <a16:creationId xmlns:a16="http://schemas.microsoft.com/office/drawing/2014/main" id="{33047B4E-88FB-769C-6AA0-1E92AF7B754D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433;p42">
              <a:extLst>
                <a:ext uri="{FF2B5EF4-FFF2-40B4-BE49-F238E27FC236}">
                  <a16:creationId xmlns:a16="http://schemas.microsoft.com/office/drawing/2014/main" id="{42E732AF-CC2F-F1CB-C681-B943B23CF4E7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434;p42">
              <a:extLst>
                <a:ext uri="{FF2B5EF4-FFF2-40B4-BE49-F238E27FC236}">
                  <a16:creationId xmlns:a16="http://schemas.microsoft.com/office/drawing/2014/main" id="{9E18BEEB-94C7-2D56-922E-777CC969A7D4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5;p42">
              <a:extLst>
                <a:ext uri="{FF2B5EF4-FFF2-40B4-BE49-F238E27FC236}">
                  <a16:creationId xmlns:a16="http://schemas.microsoft.com/office/drawing/2014/main" id="{EC048476-8657-3DDE-2D70-4914F756BCB3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436;p42">
              <a:extLst>
                <a:ext uri="{FF2B5EF4-FFF2-40B4-BE49-F238E27FC236}">
                  <a16:creationId xmlns:a16="http://schemas.microsoft.com/office/drawing/2014/main" id="{4A1C1B22-2E1D-69EA-15A2-E09D12E4EB77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437;p42">
              <a:extLst>
                <a:ext uri="{FF2B5EF4-FFF2-40B4-BE49-F238E27FC236}">
                  <a16:creationId xmlns:a16="http://schemas.microsoft.com/office/drawing/2014/main" id="{BF2E9E4C-B704-C250-BA39-4EF8FE680439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8;p42">
              <a:extLst>
                <a:ext uri="{FF2B5EF4-FFF2-40B4-BE49-F238E27FC236}">
                  <a16:creationId xmlns:a16="http://schemas.microsoft.com/office/drawing/2014/main" id="{302901A6-709F-3B3C-CCA7-19AC2CBFFED8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" name="Google Shape;431;p42">
            <a:extLst>
              <a:ext uri="{FF2B5EF4-FFF2-40B4-BE49-F238E27FC236}">
                <a16:creationId xmlns:a16="http://schemas.microsoft.com/office/drawing/2014/main" id="{102D188B-6BEC-B4F1-89EC-79AAC0116CC5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17" name="Google Shape;432;p42">
              <a:extLst>
                <a:ext uri="{FF2B5EF4-FFF2-40B4-BE49-F238E27FC236}">
                  <a16:creationId xmlns:a16="http://schemas.microsoft.com/office/drawing/2014/main" id="{E6507789-F351-D35E-228C-8211DA7AB1B6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433;p42">
              <a:extLst>
                <a:ext uri="{FF2B5EF4-FFF2-40B4-BE49-F238E27FC236}">
                  <a16:creationId xmlns:a16="http://schemas.microsoft.com/office/drawing/2014/main" id="{B55B454C-20A0-6AB5-29C1-3E49A3FE9C24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434;p42">
              <a:extLst>
                <a:ext uri="{FF2B5EF4-FFF2-40B4-BE49-F238E27FC236}">
                  <a16:creationId xmlns:a16="http://schemas.microsoft.com/office/drawing/2014/main" id="{A2E40651-8024-7DCB-4215-731188EB6561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435;p42">
              <a:extLst>
                <a:ext uri="{FF2B5EF4-FFF2-40B4-BE49-F238E27FC236}">
                  <a16:creationId xmlns:a16="http://schemas.microsoft.com/office/drawing/2014/main" id="{AC6EF3CE-BA98-496C-4F38-E289480F1F2E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436;p42">
              <a:extLst>
                <a:ext uri="{FF2B5EF4-FFF2-40B4-BE49-F238E27FC236}">
                  <a16:creationId xmlns:a16="http://schemas.microsoft.com/office/drawing/2014/main" id="{7D578376-7124-F84A-895F-9634D543A0E8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437;p42">
              <a:extLst>
                <a:ext uri="{FF2B5EF4-FFF2-40B4-BE49-F238E27FC236}">
                  <a16:creationId xmlns:a16="http://schemas.microsoft.com/office/drawing/2014/main" id="{8E85486A-29B8-EF0C-F817-92658C0F2C40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438;p42">
              <a:extLst>
                <a:ext uri="{FF2B5EF4-FFF2-40B4-BE49-F238E27FC236}">
                  <a16:creationId xmlns:a16="http://schemas.microsoft.com/office/drawing/2014/main" id="{50CD67BB-381E-808F-9BC3-ABC7FE7774DF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B7DA09-5808-2C83-B36B-5CE601811B06}"/>
              </a:ext>
            </a:extLst>
          </p:cNvPr>
          <p:cNvSpPr txBox="1"/>
          <p:nvPr/>
        </p:nvSpPr>
        <p:spPr>
          <a:xfrm>
            <a:off x="883920" y="1342961"/>
            <a:ext cx="6990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https://playwright.dev/docs/test-agents</a:t>
            </a:r>
            <a:endParaRPr lang="en-IN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Playwright Test Agents (Planner, Generator, Healer) — Microsoft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F2FF00-4875-EEC0-ADE0-C91793CBE722}"/>
              </a:ext>
            </a:extLst>
          </p:cNvPr>
          <p:cNvSpPr txBox="1"/>
          <p:nvPr/>
        </p:nvSpPr>
        <p:spPr>
          <a:xfrm>
            <a:off x="883920" y="2157689"/>
            <a:ext cx="699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latin typeface="Times New Roman"/>
                <a:cs typeface="Times New Roman"/>
                <a:hlinkClick r:id="rId3"/>
              </a:rPr>
              <a:t>https://www.testim.io/</a:t>
            </a:r>
            <a:endParaRPr lang="en-US" dirty="0">
              <a:latin typeface="Times New Roman"/>
              <a:cs typeface="Times New Roman"/>
            </a:endParaRPr>
          </a:p>
          <a:p>
            <a:pPr lvl="0"/>
            <a:r>
              <a:rPr lang="en-US" dirty="0">
                <a:latin typeface="Times New Roman"/>
                <a:cs typeface="Times New Roman"/>
              </a:rPr>
              <a:t>Tricentis Testim — AI-powered web test automation (named in Dassault brief)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cs typeface="Times New Roman"/>
                <a:sym typeface="Arial"/>
              </a:rPr>
              <a:t/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A1E22F-928C-26DD-060D-44E9431D9571}"/>
              </a:ext>
            </a:extLst>
          </p:cNvPr>
          <p:cNvSpPr txBox="1"/>
          <p:nvPr/>
        </p:nvSpPr>
        <p:spPr>
          <a:xfrm>
            <a:off x="883920" y="2972417"/>
            <a:ext cx="6990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https://doi.org/10.1002/stvr.1893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Nass et al. (2024) — Improving Web Element Localization Using an LLM (STVR)</a:t>
            </a:r>
            <a:r>
              <a:rPr lang="en-US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3D3799-187D-54AD-F8A0-2B577A5FF8AC}"/>
              </a:ext>
            </a:extLst>
          </p:cNvPr>
          <p:cNvSpPr txBox="1"/>
          <p:nvPr/>
        </p:nvSpPr>
        <p:spPr>
          <a:xfrm>
            <a:off x="811350" y="4002589"/>
            <a:ext cx="699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https://doi.org/10.1109/icecit67774.2025.11451150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ICECIT 2025 — Generative AI for Self-Healing Selenium Tests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5C0AE1-87C9-D0A6-4AEE-A94E851CC667}"/>
              </a:ext>
            </a:extLst>
          </p:cNvPr>
          <p:cNvSpPr txBox="1"/>
          <p:nvPr/>
        </p:nvSpPr>
        <p:spPr>
          <a:xfrm>
            <a:off x="811350" y="5032761"/>
            <a:ext cx="699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6"/>
              </a:rPr>
              <a:t>https://doi.org/10.60087/jaigs.v5i1.341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JAIGS 2025 — Self-Healing Automation with RL (PPO) in Playwright</a:t>
            </a:r>
            <a:r>
              <a:rPr lang="en-US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18774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C234759-A2C0-CF0A-6EBF-70364670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0A3A750F-8435-CDE2-5002-00EC71E4B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569861"/>
            <a:ext cx="7886700" cy="93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3300"/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A photograph of the presentation after due permission from the guide.</a:t>
            </a:r>
            <a:endParaRPr lang="en-IN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4BFC4FD7-1D38-4B16-E12C-003EC551EE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28-07-2026</a:t>
            </a:r>
            <a:endParaRPr/>
          </a:p>
        </p:txBody>
      </p:sp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747C85A3-E41A-7CEF-664B-5BD9AA08520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C929716-23F3-6F76-27E3-068CB8CDEB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grpSp>
        <p:nvGrpSpPr>
          <p:cNvPr id="2" name="Google Shape;431;p42">
            <a:extLst>
              <a:ext uri="{FF2B5EF4-FFF2-40B4-BE49-F238E27FC236}">
                <a16:creationId xmlns:a16="http://schemas.microsoft.com/office/drawing/2014/main" id="{EA4B9EB8-7CFF-AB8F-6815-5FD79274CE2C}"/>
              </a:ext>
            </a:extLst>
          </p:cNvPr>
          <p:cNvGrpSpPr/>
          <p:nvPr/>
        </p:nvGrpSpPr>
        <p:grpSpPr>
          <a:xfrm>
            <a:off x="-18582" y="0"/>
            <a:ext cx="562035" cy="6858000"/>
            <a:chOff x="0" y="0"/>
            <a:chExt cx="1199700" cy="5149225"/>
          </a:xfrm>
        </p:grpSpPr>
        <p:sp>
          <p:nvSpPr>
            <p:cNvPr id="3" name="Google Shape;432;p42">
              <a:extLst>
                <a:ext uri="{FF2B5EF4-FFF2-40B4-BE49-F238E27FC236}">
                  <a16:creationId xmlns:a16="http://schemas.microsoft.com/office/drawing/2014/main" id="{2E5A4FF6-6B20-FA65-7E1C-7B02E44FE07A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" name="Google Shape;433;p42">
              <a:extLst>
                <a:ext uri="{FF2B5EF4-FFF2-40B4-BE49-F238E27FC236}">
                  <a16:creationId xmlns:a16="http://schemas.microsoft.com/office/drawing/2014/main" id="{794EBC8E-757B-81C6-3AF8-527A4A069D22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" name="Google Shape;434;p42">
              <a:extLst>
                <a:ext uri="{FF2B5EF4-FFF2-40B4-BE49-F238E27FC236}">
                  <a16:creationId xmlns:a16="http://schemas.microsoft.com/office/drawing/2014/main" id="{C229B1CC-B42B-369D-B21A-8DC91A7D61C5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435;p42">
              <a:extLst>
                <a:ext uri="{FF2B5EF4-FFF2-40B4-BE49-F238E27FC236}">
                  <a16:creationId xmlns:a16="http://schemas.microsoft.com/office/drawing/2014/main" id="{D1B5C2F7-8AE7-79E2-8621-20EC53F39D21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436;p42">
              <a:extLst>
                <a:ext uri="{FF2B5EF4-FFF2-40B4-BE49-F238E27FC236}">
                  <a16:creationId xmlns:a16="http://schemas.microsoft.com/office/drawing/2014/main" id="{176643FC-9E8E-C6DC-B792-4F00B7B7091E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437;p42">
              <a:extLst>
                <a:ext uri="{FF2B5EF4-FFF2-40B4-BE49-F238E27FC236}">
                  <a16:creationId xmlns:a16="http://schemas.microsoft.com/office/drawing/2014/main" id="{E174192B-B628-1F83-78BC-81186792680E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438;p42">
              <a:extLst>
                <a:ext uri="{FF2B5EF4-FFF2-40B4-BE49-F238E27FC236}">
                  <a16:creationId xmlns:a16="http://schemas.microsoft.com/office/drawing/2014/main" id="{4BC3ACF5-B358-9BF2-425F-1AD0DF1D18D0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" name="Google Shape;431;p42">
            <a:extLst>
              <a:ext uri="{FF2B5EF4-FFF2-40B4-BE49-F238E27FC236}">
                <a16:creationId xmlns:a16="http://schemas.microsoft.com/office/drawing/2014/main" id="{3675A172-1D3D-913F-BD0D-651BDE2E39BF}"/>
              </a:ext>
            </a:extLst>
          </p:cNvPr>
          <p:cNvGrpSpPr/>
          <p:nvPr/>
        </p:nvGrpSpPr>
        <p:grpSpPr>
          <a:xfrm>
            <a:off x="8602473" y="569860"/>
            <a:ext cx="562035" cy="6288140"/>
            <a:chOff x="0" y="427871"/>
            <a:chExt cx="1199700" cy="4721354"/>
          </a:xfrm>
        </p:grpSpPr>
        <p:sp>
          <p:nvSpPr>
            <p:cNvPr id="11" name="Google Shape;432;p42">
              <a:extLst>
                <a:ext uri="{FF2B5EF4-FFF2-40B4-BE49-F238E27FC236}">
                  <a16:creationId xmlns:a16="http://schemas.microsoft.com/office/drawing/2014/main" id="{E9EE0FDF-9760-95B5-BD55-8BCA0A40BE79}"/>
                </a:ext>
              </a:extLst>
            </p:cNvPr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433;p42">
              <a:extLst>
                <a:ext uri="{FF2B5EF4-FFF2-40B4-BE49-F238E27FC236}">
                  <a16:creationId xmlns:a16="http://schemas.microsoft.com/office/drawing/2014/main" id="{242C53F2-5AB2-D54B-5FCE-EBAF0F0880F2}"/>
                </a:ext>
              </a:extLst>
            </p:cNvPr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434;p42">
              <a:extLst>
                <a:ext uri="{FF2B5EF4-FFF2-40B4-BE49-F238E27FC236}">
                  <a16:creationId xmlns:a16="http://schemas.microsoft.com/office/drawing/2014/main" id="{08ABAFE7-76B3-88F3-5C0C-937CCF260311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435;p42">
              <a:extLst>
                <a:ext uri="{FF2B5EF4-FFF2-40B4-BE49-F238E27FC236}">
                  <a16:creationId xmlns:a16="http://schemas.microsoft.com/office/drawing/2014/main" id="{12219207-D090-4CD4-2BF5-3E4B7D5BDF05}"/>
                </a:ext>
              </a:extLst>
            </p:cNvPr>
            <p:cNvSpPr/>
            <p:nvPr/>
          </p:nvSpPr>
          <p:spPr>
            <a:xfrm>
              <a:off x="0" y="427871"/>
              <a:ext cx="1199700" cy="42922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436;p42">
              <a:extLst>
                <a:ext uri="{FF2B5EF4-FFF2-40B4-BE49-F238E27FC236}">
                  <a16:creationId xmlns:a16="http://schemas.microsoft.com/office/drawing/2014/main" id="{9313B354-EB17-5F49-A52B-C7430551E2CF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437;p42">
              <a:extLst>
                <a:ext uri="{FF2B5EF4-FFF2-40B4-BE49-F238E27FC236}">
                  <a16:creationId xmlns:a16="http://schemas.microsoft.com/office/drawing/2014/main" id="{4C25A90D-A008-4C1B-F727-E43777FFC10C}"/>
                </a:ext>
              </a:extLst>
            </p:cNvPr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438;p42">
              <a:extLst>
                <a:ext uri="{FF2B5EF4-FFF2-40B4-BE49-F238E27FC236}">
                  <a16:creationId xmlns:a16="http://schemas.microsoft.com/office/drawing/2014/main" id="{125CD0C8-1A2C-EC1C-6737-D3537098555A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513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1604</Words>
  <Application>Microsoft Office PowerPoint</Application>
  <PresentationFormat>On-screen Show (4:3)</PresentationFormat>
  <Paragraphs>251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Helvetica Neue</vt:lpstr>
      <vt:lpstr>Nunito</vt:lpstr>
      <vt:lpstr>Nunito ExtraBold</vt:lpstr>
      <vt:lpstr>Open Sans</vt:lpstr>
      <vt:lpstr>Raleway</vt:lpstr>
      <vt:lpstr>Raleway ExtraBold</vt:lpstr>
      <vt:lpstr>Raleway Medium</vt:lpstr>
      <vt:lpstr>Times New Roman</vt:lpstr>
      <vt:lpstr>Office Theme</vt:lpstr>
      <vt:lpstr>PowerPoint Presentation</vt:lpstr>
      <vt:lpstr>Outline of the Presentation</vt:lpstr>
      <vt:lpstr>Name of all the group members and their work distribution </vt:lpstr>
      <vt:lpstr>Introduction </vt:lpstr>
      <vt:lpstr>Problem Statement</vt:lpstr>
      <vt:lpstr>Objectives of the project</vt:lpstr>
      <vt:lpstr>Project plan with timeline</vt:lpstr>
      <vt:lpstr>Literature Review</vt:lpstr>
      <vt:lpstr>Gaps in Research</vt:lpstr>
      <vt:lpstr>Proposed Solution</vt:lpstr>
      <vt:lpstr>Architectural Diagram</vt:lpstr>
      <vt:lpstr>PowerPoint Presentation</vt:lpstr>
      <vt:lpstr>Work done till now</vt:lpstr>
      <vt:lpstr>Work done till now</vt:lpstr>
      <vt:lpstr>Work done till now</vt:lpstr>
      <vt:lpstr>Conclusion From Evaluation</vt:lpstr>
      <vt:lpstr>PowerPoint Presentation</vt:lpstr>
      <vt:lpstr>A photograph of the presentation after due permission from the guide.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Jitendra Rajpurohit</dc:creator>
  <cp:lastModifiedBy>Nidhi Supe</cp:lastModifiedBy>
  <cp:revision>4</cp:revision>
  <dcterms:created xsi:type="dcterms:W3CDTF">2024-07-20T13:31:42Z</dcterms:created>
  <dcterms:modified xsi:type="dcterms:W3CDTF">2026-02-13T10:37:00Z</dcterms:modified>
</cp:coreProperties>
</file>